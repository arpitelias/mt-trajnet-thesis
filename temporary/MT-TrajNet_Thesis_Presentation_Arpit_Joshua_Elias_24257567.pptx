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breath,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Set the scene, do not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last row of the table, then name the three gaps below. Do not read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plainly. They map onto the results slides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showing you understood the data before modelling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visual. Walk left to right, one sentence per stage. Take your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in one breath, then the setup. Mention that you found the fold failure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first, and say the honest part out loud. Then the right side, which is the clean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finding for a practitioner. Slow down on the two ratios.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one. It is the most novel result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hardness result first, then run the limitations quickly. Confidence matters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The remaining two slides are references and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these. Leave the slide up briefly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Stop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1"/>
        </a:solidFill>
      </p:bgPr>
    </p:bg>
    <p:spTree>
      <p:nvGrpSpPr>
        <p:cNvPr id="1" name=""/>
        <p:cNvGrpSpPr/>
        <p:nvPr/>
      </p:nvGrpSpPr>
      <p:grpSpPr>
        <a:xfrm>
          <a:off x="0" y="0"/>
          <a:ext cx="0" cy="0"/>
          <a:chOff x="0" y="0"/>
          <a:chExt cx="0" cy="0"/>
        </a:xfrm>
      </p:grpSpPr>
      <p:pic>
        <p:nvPicPr>
          <p:cNvPr id="2" name="Image 0" descr="img/nci.png">    </p:cNvPr>
          <p:cNvPicPr>
            <a:picLocks noChangeAspect="1"/>
          </p:cNvPicPr>
          <p:nvPr/>
        </p:nvPicPr>
        <p:blipFill>
          <a:blip r:embed="rId1"/>
          <a:stretch>
            <a:fillRect/>
          </a:stretch>
        </p:blipFill>
        <p:spPr>
          <a:xfrm>
            <a:off x="9902952" y="502920"/>
            <a:ext cx="1600200" cy="1380744"/>
          </a:xfrm>
          <a:prstGeom prst="rect">
            <a:avLst/>
          </a:prstGeom>
        </p:spPr>
      </p:pic>
      <p:sp>
        <p:nvSpPr>
          <p:cNvPr id="3" name="Text 0"/>
          <p:cNvSpPr/>
          <p:nvPr/>
        </p:nvSpPr>
        <p:spPr>
          <a:xfrm>
            <a:off x="658368" y="1828800"/>
            <a:ext cx="9144000" cy="274320"/>
          </a:xfrm>
          <a:prstGeom prst="rect">
            <a:avLst/>
          </a:prstGeom>
          <a:noFill/>
          <a:ln/>
        </p:spPr>
        <p:txBody>
          <a:bodyPr wrap="square" lIns="0" tIns="0" rIns="0" bIns="0" rtlCol="0" anchor="ctr"/>
          <a:lstStyle/>
          <a:p>
            <a:pPr indent="0" marL="0">
              <a:buNone/>
            </a:pPr>
            <a:r>
              <a:rPr lang="en-US" sz="1050" spc="200" kern="0" dirty="0">
                <a:solidFill>
                  <a:srgbClr val="9BB4C9"/>
                </a:solidFill>
                <a:latin typeface="Courier New" pitchFamily="34" charset="0"/>
                <a:ea typeface="Courier New" pitchFamily="34" charset="-122"/>
                <a:cs typeface="Courier New" pitchFamily="34" charset="-120"/>
              </a:rPr>
              <a:t>MSC IN ARTIFICIAL INTELLIGENCE  ·  NATIONAL COLLEGE OF IRELAND</a:t>
            </a:r>
            <a:endParaRPr lang="en-US" sz="1050" dirty="0"/>
          </a:p>
        </p:txBody>
      </p:sp>
      <p:sp>
        <p:nvSpPr>
          <p:cNvPr id="4" name="Text 1"/>
          <p:cNvSpPr/>
          <p:nvPr/>
        </p:nvSpPr>
        <p:spPr>
          <a:xfrm>
            <a:off x="658368" y="2240280"/>
            <a:ext cx="10424160" cy="1371600"/>
          </a:xfrm>
          <a:prstGeom prst="rect">
            <a:avLst/>
          </a:prstGeom>
          <a:noFill/>
          <a:ln/>
        </p:spPr>
        <p:txBody>
          <a:bodyPr wrap="square" lIns="0" tIns="0" rIns="0" bIns="0" rtlCol="0" anchor="ctr"/>
          <a:lstStyle/>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Trustworthy Deep Learning for</a:t>
            </a:r>
            <a:endParaRPr lang="en-US" sz="3600" dirty="0"/>
          </a:p>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Pharmaceutical Tablet Quality Prediction</a:t>
            </a:r>
            <a:endParaRPr lang="en-US" sz="3600" dirty="0"/>
          </a:p>
        </p:txBody>
      </p:sp>
      <p:sp>
        <p:nvSpPr>
          <p:cNvPr id="5" name="Text 2"/>
          <p:cNvSpPr/>
          <p:nvPr/>
        </p:nvSpPr>
        <p:spPr>
          <a:xfrm>
            <a:off x="658368" y="3639312"/>
            <a:ext cx="9692640" cy="548640"/>
          </a:xfrm>
          <a:prstGeom prst="rect">
            <a:avLst/>
          </a:prstGeom>
          <a:noFill/>
          <a:ln/>
        </p:spPr>
        <p:txBody>
          <a:bodyPr wrap="square" lIns="0" tIns="0" rIns="0" bIns="0" rtlCol="0" anchor="ctr"/>
          <a:lstStyle/>
          <a:p>
            <a:pPr indent="0" marL="0">
              <a:buNone/>
            </a:pPr>
            <a:r>
              <a:rPr lang="en-US" sz="1450" dirty="0">
                <a:solidFill>
                  <a:srgbClr val="C4CCD6"/>
                </a:solidFill>
                <a:latin typeface="Calibri" pitchFamily="34" charset="0"/>
                <a:ea typeface="Calibri" pitchFamily="34" charset="-122"/>
                <a:cs typeface="Calibri" pitchFamily="34" charset="-120"/>
              </a:rPr>
              <a:t>End-to-end multi-task modelling with dual uncertainty quantification on industrial compression trajectories</a:t>
            </a:r>
            <a:endParaRPr lang="en-US" sz="1450" dirty="0"/>
          </a:p>
        </p:txBody>
      </p:sp>
      <p:sp>
        <p:nvSpPr>
          <p:cNvPr id="6" name="Shape 3"/>
          <p:cNvSpPr/>
          <p:nvPr/>
        </p:nvSpPr>
        <p:spPr>
          <a:xfrm>
            <a:off x="658368" y="4434840"/>
            <a:ext cx="2194560" cy="0"/>
          </a:xfrm>
          <a:prstGeom prst="line">
            <a:avLst/>
          </a:prstGeom>
          <a:noFill/>
          <a:ln w="31750">
            <a:solidFill>
              <a:srgbClr val="1F5C8B"/>
            </a:solidFill>
            <a:prstDash val="solid"/>
          </a:ln>
        </p:spPr>
      </p:sp>
      <p:sp>
        <p:nvSpPr>
          <p:cNvPr id="7" name="Text 4"/>
          <p:cNvSpPr/>
          <p:nvPr/>
        </p:nvSpPr>
        <p:spPr>
          <a:xfrm>
            <a:off x="658368" y="4681728"/>
            <a:ext cx="822960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Arpit Joshua Elias   ·   Student ID 24257567</a:t>
            </a:r>
            <a:endParaRPr lang="en-US" sz="1500" dirty="0"/>
          </a:p>
        </p:txBody>
      </p:sp>
      <p:sp>
        <p:nvSpPr>
          <p:cNvPr id="8" name="Text 5"/>
          <p:cNvSpPr/>
          <p:nvPr/>
        </p:nvSpPr>
        <p:spPr>
          <a:xfrm>
            <a:off x="658368" y="5047488"/>
            <a:ext cx="8229600" cy="274320"/>
          </a:xfrm>
          <a:prstGeom prst="rect">
            <a:avLst/>
          </a:prstGeom>
          <a:noFill/>
          <a:ln/>
        </p:spPr>
        <p:txBody>
          <a:bodyPr wrap="square" lIns="0" tIns="0" rIns="0" bIns="0" rtlCol="0" anchor="ctr"/>
          <a:lstStyle/>
          <a:p>
            <a:pPr indent="0" marL="0">
              <a:buNone/>
            </a:pPr>
            <a:r>
              <a:rPr lang="en-US" sz="1250" dirty="0">
                <a:solidFill>
                  <a:srgbClr val="9BB4C9"/>
                </a:solidFill>
                <a:latin typeface="Calibri" pitchFamily="34" charset="0"/>
                <a:ea typeface="Calibri" pitchFamily="34" charset="-122"/>
                <a:cs typeface="Calibri" pitchFamily="34" charset="-120"/>
              </a:rPr>
              <a:t>Supervisor: Arundev Vamadevan   ·   School of Computing</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347472"/>
            <a:ext cx="8229600" cy="237744"/>
          </a:xfrm>
          <a:prstGeom prst="rect">
            <a:avLst/>
          </a:prstGeom>
          <a:noFill/>
          <a:ln/>
        </p:spPr>
        <p:txBody>
          <a:bodyPr wrap="square" lIns="0" tIns="0" rIns="0" bIns="0" rtlCol="0" anchor="ctr"/>
          <a:lstStyle/>
          <a:p>
            <a:pPr indent="0" marL="0">
              <a:buNone/>
            </a:pPr>
            <a:r>
              <a:rPr lang="en-US" sz="1050" b="1" spc="200" kern="0" dirty="0">
                <a:solidFill>
                  <a:srgbClr val="1F5C8B"/>
                </a:solidFill>
                <a:latin typeface="Courier New" pitchFamily="34" charset="0"/>
                <a:ea typeface="Courier New" pitchFamily="34" charset="-122"/>
                <a:cs typeface="Courier New" pitchFamily="34" charset="-120"/>
              </a:rPr>
              <a:t>INTRODUCTION</a:t>
            </a:r>
            <a:endParaRPr lang="en-US" sz="1050" dirty="0"/>
          </a:p>
        </p:txBody>
      </p:sp>
      <p:sp>
        <p:nvSpPr>
          <p:cNvPr id="3" name="Text 1"/>
          <p:cNvSpPr/>
          <p:nvPr/>
        </p:nvSpPr>
        <p:spPr>
          <a:xfrm>
            <a:off x="658368" y="676656"/>
            <a:ext cx="10844784" cy="548640"/>
          </a:xfrm>
          <a:prstGeom prst="rect">
            <a:avLst/>
          </a:prstGeom>
          <a:noFill/>
          <a:ln/>
        </p:spPr>
        <p:txBody>
          <a:bodyPr wrap="square" lIns="0" tIns="0" rIns="0" bIns="0" rtlCol="0" anchor="t"/>
          <a:lstStyle/>
          <a:p>
            <a:pPr indent="0" marL="0">
              <a:buNone/>
            </a:pPr>
            <a:r>
              <a:rPr lang="en-US" sz="3000" b="1" dirty="0">
                <a:solidFill>
                  <a:srgbClr val="141A21"/>
                </a:solidFill>
                <a:latin typeface="Cambria" pitchFamily="34" charset="0"/>
                <a:ea typeface="Cambria" pitchFamily="34" charset="-122"/>
                <a:cs typeface="Cambria" pitchFamily="34" charset="-120"/>
              </a:rPr>
              <a:t>Why this problem is worth solving</a:t>
            </a:r>
            <a:endParaRPr lang="en-US" sz="3000" dirty="0"/>
          </a:p>
        </p:txBody>
      </p:sp>
      <p:sp>
        <p:nvSpPr>
          <p:cNvPr id="4" name="Shape 2"/>
          <p:cNvSpPr/>
          <p:nvPr/>
        </p:nvSpPr>
        <p:spPr>
          <a:xfrm>
            <a:off x="658368" y="2039112"/>
            <a:ext cx="91440" cy="1051560"/>
          </a:xfrm>
          <a:prstGeom prst="roundRect">
            <a:avLst>
              <a:gd name="adj" fmla="val 50000"/>
            </a:avLst>
          </a:prstGeom>
          <a:solidFill>
            <a:srgbClr val="1F5C8B"/>
          </a:solidFill>
          <a:ln w="12700">
            <a:solidFill>
              <a:srgbClr val="1F5C8B"/>
            </a:solidFill>
            <a:prstDash val="solid"/>
          </a:ln>
        </p:spPr>
      </p:sp>
      <p:sp>
        <p:nvSpPr>
          <p:cNvPr id="5" name="Text 3"/>
          <p:cNvSpPr/>
          <p:nvPr/>
        </p:nvSpPr>
        <p:spPr>
          <a:xfrm>
            <a:off x="1042416" y="1965960"/>
            <a:ext cx="10607040" cy="310896"/>
          </a:xfrm>
          <a:prstGeom prst="rect">
            <a:avLst/>
          </a:prstGeom>
          <a:noFill/>
          <a:ln/>
        </p:spPr>
        <p:txBody>
          <a:bodyPr wrap="square" lIns="0" tIns="0" rIns="0" bIns="0" rtlCol="0" anchor="ctr"/>
          <a:lstStyle/>
          <a:p>
            <a:pPr indent="0" marL="0">
              <a:buNone/>
            </a:pPr>
            <a:r>
              <a:rPr lang="en-US" sz="1700" b="1" dirty="0">
                <a:solidFill>
                  <a:srgbClr val="141A21"/>
                </a:solidFill>
                <a:latin typeface="Cambria" pitchFamily="34" charset="0"/>
                <a:ea typeface="Cambria" pitchFamily="34" charset="-122"/>
                <a:cs typeface="Cambria" pitchFamily="34" charset="-120"/>
              </a:rPr>
              <a:t>The domain</a:t>
            </a:r>
            <a:endParaRPr lang="en-US" sz="1700" dirty="0"/>
          </a:p>
        </p:txBody>
      </p:sp>
      <p:sp>
        <p:nvSpPr>
          <p:cNvPr id="6" name="Text 4"/>
          <p:cNvSpPr/>
          <p:nvPr/>
        </p:nvSpPr>
        <p:spPr>
          <a:xfrm>
            <a:off x="1042416" y="2350008"/>
            <a:ext cx="10332720" cy="731520"/>
          </a:xfrm>
          <a:prstGeom prst="rect">
            <a:avLst/>
          </a:prstGeom>
          <a:noFill/>
          <a:ln/>
        </p:spPr>
        <p:txBody>
          <a:bodyPr wrap="square" lIns="0" tIns="0" rIns="0" bIns="0" rtlCol="0" anchor="ctr"/>
          <a:lstStyle/>
          <a:p>
            <a:pPr indent="0" marL="0">
              <a:buNone/>
            </a:pPr>
            <a:r>
              <a:rPr lang="en-US" sz="1300" dirty="0">
                <a:solidFill>
                  <a:srgbClr val="565D67"/>
                </a:solidFill>
                <a:latin typeface="Calibri" pitchFamily="34" charset="0"/>
                <a:ea typeface="Calibri" pitchFamily="34" charset="-122"/>
                <a:cs typeface="Calibri" pitchFamily="34" charset="-120"/>
              </a:rPr>
              <a:t>Tablet manufacturing is among the most tightly regulated production processes there is. Every batch is laboratory tested before it can be released.</a:t>
            </a:r>
            <a:endParaRPr lang="en-US" sz="1300" dirty="0"/>
          </a:p>
        </p:txBody>
      </p:sp>
      <p:sp>
        <p:nvSpPr>
          <p:cNvPr id="7" name="Shape 5"/>
          <p:cNvSpPr/>
          <p:nvPr/>
        </p:nvSpPr>
        <p:spPr>
          <a:xfrm>
            <a:off x="658368" y="3456432"/>
            <a:ext cx="91440" cy="1051560"/>
          </a:xfrm>
          <a:prstGeom prst="roundRect">
            <a:avLst>
              <a:gd name="adj" fmla="val 50000"/>
            </a:avLst>
          </a:prstGeom>
          <a:solidFill>
            <a:srgbClr val="AD6425"/>
          </a:solidFill>
          <a:ln w="12700">
            <a:solidFill>
              <a:srgbClr val="AD6425"/>
            </a:solidFill>
            <a:prstDash val="solid"/>
          </a:ln>
        </p:spPr>
      </p:sp>
      <p:sp>
        <p:nvSpPr>
          <p:cNvPr id="8" name="Text 6"/>
          <p:cNvSpPr/>
          <p:nvPr/>
        </p:nvSpPr>
        <p:spPr>
          <a:xfrm>
            <a:off x="1042416" y="3383280"/>
            <a:ext cx="10607040" cy="310896"/>
          </a:xfrm>
          <a:prstGeom prst="rect">
            <a:avLst/>
          </a:prstGeom>
          <a:noFill/>
          <a:ln/>
        </p:spPr>
        <p:txBody>
          <a:bodyPr wrap="square" lIns="0" tIns="0" rIns="0" bIns="0" rtlCol="0" anchor="ctr"/>
          <a:lstStyle/>
          <a:p>
            <a:pPr indent="0" marL="0">
              <a:buNone/>
            </a:pPr>
            <a:r>
              <a:rPr lang="en-US" sz="1700" b="1" dirty="0">
                <a:solidFill>
                  <a:srgbClr val="141A21"/>
                </a:solidFill>
                <a:latin typeface="Cambria" pitchFamily="34" charset="0"/>
                <a:ea typeface="Cambria" pitchFamily="34" charset="-122"/>
                <a:cs typeface="Cambria" pitchFamily="34" charset="-120"/>
              </a:rPr>
              <a:t>The gap</a:t>
            </a:r>
            <a:endParaRPr lang="en-US" sz="1700" dirty="0"/>
          </a:p>
        </p:txBody>
      </p:sp>
      <p:sp>
        <p:nvSpPr>
          <p:cNvPr id="9" name="Text 7"/>
          <p:cNvSpPr/>
          <p:nvPr/>
        </p:nvSpPr>
        <p:spPr>
          <a:xfrm>
            <a:off x="1042416" y="3767328"/>
            <a:ext cx="10332720" cy="731520"/>
          </a:xfrm>
          <a:prstGeom prst="rect">
            <a:avLst/>
          </a:prstGeom>
          <a:noFill/>
          <a:ln/>
        </p:spPr>
        <p:txBody>
          <a:bodyPr wrap="square" lIns="0" tIns="0" rIns="0" bIns="0" rtlCol="0" anchor="ctr"/>
          <a:lstStyle/>
          <a:p>
            <a:pPr indent="0" marL="0">
              <a:buNone/>
            </a:pPr>
            <a:r>
              <a:rPr lang="en-US" sz="1300" dirty="0">
                <a:solidFill>
                  <a:srgbClr val="565D67"/>
                </a:solidFill>
                <a:latin typeface="Calibri" pitchFamily="34" charset="0"/>
                <a:ea typeface="Calibri" pitchFamily="34" charset="-122"/>
                <a:cs typeface="Calibri" pitchFamily="34" charset="-120"/>
              </a:rPr>
              <a:t>Presses record ten sensors continuously, but that stream is used to confirm the machine is running, not to anticipate whether the product will pass.</a:t>
            </a:r>
            <a:endParaRPr lang="en-US" sz="1300" dirty="0"/>
          </a:p>
        </p:txBody>
      </p:sp>
      <p:sp>
        <p:nvSpPr>
          <p:cNvPr id="10" name="Shape 8"/>
          <p:cNvSpPr/>
          <p:nvPr/>
        </p:nvSpPr>
        <p:spPr>
          <a:xfrm>
            <a:off x="658368" y="4873752"/>
            <a:ext cx="91440" cy="1051560"/>
          </a:xfrm>
          <a:prstGeom prst="roundRect">
            <a:avLst>
              <a:gd name="adj" fmla="val 50000"/>
            </a:avLst>
          </a:prstGeom>
          <a:solidFill>
            <a:srgbClr val="1F6F55"/>
          </a:solidFill>
          <a:ln w="12700">
            <a:solidFill>
              <a:srgbClr val="1F6F55"/>
            </a:solidFill>
            <a:prstDash val="solid"/>
          </a:ln>
        </p:spPr>
      </p:sp>
      <p:sp>
        <p:nvSpPr>
          <p:cNvPr id="11" name="Text 9"/>
          <p:cNvSpPr/>
          <p:nvPr/>
        </p:nvSpPr>
        <p:spPr>
          <a:xfrm>
            <a:off x="1042416" y="4800600"/>
            <a:ext cx="10607040" cy="310896"/>
          </a:xfrm>
          <a:prstGeom prst="rect">
            <a:avLst/>
          </a:prstGeom>
          <a:noFill/>
          <a:ln/>
        </p:spPr>
        <p:txBody>
          <a:bodyPr wrap="square" lIns="0" tIns="0" rIns="0" bIns="0" rtlCol="0" anchor="ctr"/>
          <a:lstStyle/>
          <a:p>
            <a:pPr indent="0" marL="0">
              <a:buNone/>
            </a:pPr>
            <a:r>
              <a:rPr lang="en-US" sz="1700" b="1" dirty="0">
                <a:solidFill>
                  <a:srgbClr val="141A21"/>
                </a:solidFill>
                <a:latin typeface="Cambria" pitchFamily="34" charset="0"/>
                <a:ea typeface="Cambria" pitchFamily="34" charset="-122"/>
                <a:cs typeface="Cambria" pitchFamily="34" charset="-120"/>
              </a:rPr>
              <a:t>The motivation</a:t>
            </a:r>
            <a:endParaRPr lang="en-US" sz="1700" dirty="0"/>
          </a:p>
        </p:txBody>
      </p:sp>
      <p:sp>
        <p:nvSpPr>
          <p:cNvPr id="12" name="Text 10"/>
          <p:cNvSpPr/>
          <p:nvPr/>
        </p:nvSpPr>
        <p:spPr>
          <a:xfrm>
            <a:off x="1042416" y="5184648"/>
            <a:ext cx="10332720" cy="731520"/>
          </a:xfrm>
          <a:prstGeom prst="rect">
            <a:avLst/>
          </a:prstGeom>
          <a:noFill/>
          <a:ln/>
        </p:spPr>
        <p:txBody>
          <a:bodyPr wrap="square" lIns="0" tIns="0" rIns="0" bIns="0" rtlCol="0" anchor="ctr"/>
          <a:lstStyle/>
          <a:p>
            <a:pPr indent="0" marL="0">
              <a:buNone/>
            </a:pPr>
            <a:r>
              <a:rPr lang="en-US" sz="1300" dirty="0">
                <a:solidFill>
                  <a:srgbClr val="565D67"/>
                </a:solidFill>
                <a:latin typeface="Calibri" pitchFamily="34" charset="0"/>
                <a:ea typeface="Calibri" pitchFamily="34" charset="-122"/>
                <a:cs typeface="Calibri" pitchFamily="34" charset="-120"/>
              </a:rPr>
              <a:t>A failed batch means regulatory reporting, delay and rework. Knowing earlier, with a trustworthy statement of confidence, is worth a great deal.</a:t>
            </a:r>
            <a:endParaRPr lang="en-US" sz="1300" dirty="0"/>
          </a:p>
        </p:txBody>
      </p:sp>
      <p:sp>
        <p:nvSpPr>
          <p:cNvPr id="13" name="Text 11"/>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347472"/>
            <a:ext cx="8229600" cy="237744"/>
          </a:xfrm>
          <a:prstGeom prst="rect">
            <a:avLst/>
          </a:prstGeom>
          <a:noFill/>
          <a:ln/>
        </p:spPr>
        <p:txBody>
          <a:bodyPr wrap="square" lIns="0" tIns="0" rIns="0" bIns="0" rtlCol="0" anchor="ctr"/>
          <a:lstStyle/>
          <a:p>
            <a:pPr indent="0" marL="0">
              <a:buNone/>
            </a:pPr>
            <a:r>
              <a:rPr lang="en-US" sz="1050" b="1" spc="200" kern="0" dirty="0">
                <a:solidFill>
                  <a:srgbClr val="1F5C8B"/>
                </a:solidFill>
                <a:latin typeface="Courier New" pitchFamily="34" charset="0"/>
                <a:ea typeface="Courier New" pitchFamily="34" charset="-122"/>
                <a:cs typeface="Courier New" pitchFamily="34" charset="-120"/>
              </a:rPr>
              <a:t>BACKGROUND</a:t>
            </a:r>
            <a:endParaRPr lang="en-US" sz="1050" dirty="0"/>
          </a:p>
        </p:txBody>
      </p:sp>
      <p:sp>
        <p:nvSpPr>
          <p:cNvPr id="3" name="Text 1"/>
          <p:cNvSpPr/>
          <p:nvPr/>
        </p:nvSpPr>
        <p:spPr>
          <a:xfrm>
            <a:off x="658368" y="676656"/>
            <a:ext cx="10844784" cy="548640"/>
          </a:xfrm>
          <a:prstGeom prst="rect">
            <a:avLst/>
          </a:prstGeom>
          <a:noFill/>
          <a:ln/>
        </p:spPr>
        <p:txBody>
          <a:bodyPr wrap="square" lIns="0" tIns="0" rIns="0" bIns="0" rtlCol="0" anchor="t"/>
          <a:lstStyle/>
          <a:p>
            <a:pPr indent="0" marL="0">
              <a:buNone/>
            </a:pPr>
            <a:r>
              <a:rPr lang="en-US" sz="3000" b="1" dirty="0">
                <a:solidFill>
                  <a:srgbClr val="141A21"/>
                </a:solidFill>
                <a:latin typeface="Cambria" pitchFamily="34" charset="0"/>
                <a:ea typeface="Cambria" pitchFamily="34" charset="-122"/>
                <a:cs typeface="Cambria" pitchFamily="34" charset="-120"/>
              </a:rPr>
              <a:t>What the existing work does not do</a:t>
            </a:r>
            <a:endParaRPr lang="en-US" sz="3000" dirty="0"/>
          </a:p>
        </p:txBody>
      </p:sp>
      <p:sp>
        <p:nvSpPr>
          <p:cNvPr id="4" name="Text 2"/>
          <p:cNvSpPr/>
          <p:nvPr/>
        </p:nvSpPr>
        <p:spPr>
          <a:xfrm>
            <a:off x="658368" y="1298448"/>
            <a:ext cx="10570464" cy="347472"/>
          </a:xfrm>
          <a:prstGeom prst="rect">
            <a:avLst/>
          </a:prstGeom>
          <a:noFill/>
          <a:ln/>
        </p:spPr>
        <p:txBody>
          <a:bodyPr wrap="square" lIns="0" tIns="0" rIns="0" bIns="0" rtlCol="0" anchor="ctr"/>
          <a:lstStyle/>
          <a:p>
            <a:pPr indent="0" marL="0">
              <a:buNone/>
            </a:pPr>
            <a:r>
              <a:rPr lang="en-US" sz="1400" dirty="0">
                <a:solidFill>
                  <a:srgbClr val="565D67"/>
                </a:solidFill>
                <a:latin typeface="Calibri" pitchFamily="34" charset="0"/>
                <a:ea typeface="Calibri" pitchFamily="34" charset="-122"/>
                <a:cs typeface="Calibri" pitchFamily="34" charset="-120"/>
              </a:rPr>
              <a:t>Compared on method and capability, since the studies use different datasets and error values would mislead.</a:t>
            </a:r>
            <a:endParaRPr lang="en-US" sz="1400" dirty="0"/>
          </a:p>
        </p:txBody>
      </p:sp>
      <p:sp>
        <p:nvSpPr>
          <p:cNvPr id="5" name="Text 3"/>
          <p:cNvSpPr/>
          <p:nvPr/>
        </p:nvSpPr>
        <p:spPr>
          <a:xfrm>
            <a:off x="658368" y="2057400"/>
            <a:ext cx="2651760" cy="274320"/>
          </a:xfrm>
          <a:prstGeom prst="rect">
            <a:avLst/>
          </a:prstGeom>
          <a:noFill/>
          <a:ln/>
        </p:spPr>
        <p:txBody>
          <a:bodyPr wrap="square" lIns="0" tIns="0" rIns="0" bIns="0" rtlCol="0" anchor="ctr"/>
          <a:lstStyle/>
          <a:p>
            <a:pPr indent="0" marL="0">
              <a:buNone/>
            </a:pPr>
            <a:r>
              <a:rPr lang="en-US" sz="950" spc="80" kern="0" dirty="0">
                <a:solidFill>
                  <a:srgbClr val="8A9099"/>
                </a:solidFill>
                <a:latin typeface="Courier New" pitchFamily="34" charset="0"/>
                <a:ea typeface="Courier New" pitchFamily="34" charset="-122"/>
                <a:cs typeface="Courier New" pitchFamily="34" charset="-120"/>
              </a:rPr>
              <a:t>Study</a:t>
            </a:r>
            <a:endParaRPr lang="en-US" sz="950" dirty="0"/>
          </a:p>
        </p:txBody>
      </p:sp>
      <p:sp>
        <p:nvSpPr>
          <p:cNvPr id="6" name="Text 4"/>
          <p:cNvSpPr/>
          <p:nvPr/>
        </p:nvSpPr>
        <p:spPr>
          <a:xfrm>
            <a:off x="3310128" y="2057400"/>
            <a:ext cx="2560320" cy="274320"/>
          </a:xfrm>
          <a:prstGeom prst="rect">
            <a:avLst/>
          </a:prstGeom>
          <a:noFill/>
          <a:ln/>
        </p:spPr>
        <p:txBody>
          <a:bodyPr wrap="square" lIns="0" tIns="0" rIns="0" bIns="0" rtlCol="0" anchor="ctr"/>
          <a:lstStyle/>
          <a:p>
            <a:pPr indent="0" marL="0">
              <a:buNone/>
            </a:pPr>
            <a:r>
              <a:rPr lang="en-US" sz="950" spc="80" kern="0" dirty="0">
                <a:solidFill>
                  <a:srgbClr val="8A9099"/>
                </a:solidFill>
                <a:latin typeface="Courier New" pitchFamily="34" charset="0"/>
                <a:ea typeface="Courier New" pitchFamily="34" charset="-122"/>
                <a:cs typeface="Courier New" pitchFamily="34" charset="-120"/>
              </a:rPr>
              <a:t>Input</a:t>
            </a:r>
            <a:endParaRPr lang="en-US" sz="950" dirty="0"/>
          </a:p>
        </p:txBody>
      </p:sp>
      <p:sp>
        <p:nvSpPr>
          <p:cNvPr id="7" name="Text 5"/>
          <p:cNvSpPr/>
          <p:nvPr/>
        </p:nvSpPr>
        <p:spPr>
          <a:xfrm>
            <a:off x="5870448" y="2057400"/>
            <a:ext cx="1280160" cy="274320"/>
          </a:xfrm>
          <a:prstGeom prst="rect">
            <a:avLst/>
          </a:prstGeom>
          <a:noFill/>
          <a:ln/>
        </p:spPr>
        <p:txBody>
          <a:bodyPr wrap="square" lIns="0" tIns="0" rIns="0" bIns="0" rtlCol="0" anchor="ctr"/>
          <a:lstStyle/>
          <a:p>
            <a:pPr indent="0" marL="0">
              <a:buNone/>
            </a:pPr>
            <a:r>
              <a:rPr lang="en-US" sz="950" spc="80" kern="0" dirty="0">
                <a:solidFill>
                  <a:srgbClr val="8A9099"/>
                </a:solidFill>
                <a:latin typeface="Courier New" pitchFamily="34" charset="0"/>
                <a:ea typeface="Courier New" pitchFamily="34" charset="-122"/>
                <a:cs typeface="Courier New" pitchFamily="34" charset="-120"/>
              </a:rPr>
              <a:t>Targets</a:t>
            </a:r>
            <a:endParaRPr lang="en-US" sz="950" dirty="0"/>
          </a:p>
        </p:txBody>
      </p:sp>
      <p:sp>
        <p:nvSpPr>
          <p:cNvPr id="8" name="Text 6"/>
          <p:cNvSpPr/>
          <p:nvPr/>
        </p:nvSpPr>
        <p:spPr>
          <a:xfrm>
            <a:off x="7150608" y="2057400"/>
            <a:ext cx="1325880" cy="274320"/>
          </a:xfrm>
          <a:prstGeom prst="rect">
            <a:avLst/>
          </a:prstGeom>
          <a:noFill/>
          <a:ln/>
        </p:spPr>
        <p:txBody>
          <a:bodyPr wrap="square" lIns="0" tIns="0" rIns="0" bIns="0" rtlCol="0" anchor="ctr"/>
          <a:lstStyle/>
          <a:p>
            <a:pPr indent="0" marL="0">
              <a:buNone/>
            </a:pPr>
            <a:r>
              <a:rPr lang="en-US" sz="950" spc="80" kern="0" dirty="0">
                <a:solidFill>
                  <a:srgbClr val="8A9099"/>
                </a:solidFill>
                <a:latin typeface="Courier New" pitchFamily="34" charset="0"/>
                <a:ea typeface="Courier New" pitchFamily="34" charset="-122"/>
                <a:cs typeface="Courier New" pitchFamily="34" charset="-120"/>
              </a:rPr>
              <a:t>Uncertainty</a:t>
            </a:r>
            <a:endParaRPr lang="en-US" sz="950" dirty="0"/>
          </a:p>
        </p:txBody>
      </p:sp>
      <p:sp>
        <p:nvSpPr>
          <p:cNvPr id="9" name="Text 7"/>
          <p:cNvSpPr/>
          <p:nvPr/>
        </p:nvSpPr>
        <p:spPr>
          <a:xfrm>
            <a:off x="8476488" y="2057400"/>
            <a:ext cx="1234440" cy="274320"/>
          </a:xfrm>
          <a:prstGeom prst="rect">
            <a:avLst/>
          </a:prstGeom>
          <a:noFill/>
          <a:ln/>
        </p:spPr>
        <p:txBody>
          <a:bodyPr wrap="square" lIns="0" tIns="0" rIns="0" bIns="0" rtlCol="0" anchor="ctr"/>
          <a:lstStyle/>
          <a:p>
            <a:pPr indent="0" marL="0">
              <a:buNone/>
            </a:pPr>
            <a:r>
              <a:rPr lang="en-US" sz="950" spc="80" kern="0" dirty="0">
                <a:solidFill>
                  <a:srgbClr val="8A9099"/>
                </a:solidFill>
                <a:latin typeface="Courier New" pitchFamily="34" charset="0"/>
                <a:ea typeface="Courier New" pitchFamily="34" charset="-122"/>
                <a:cs typeface="Courier New" pitchFamily="34" charset="-120"/>
              </a:rPr>
              <a:t>OOD test</a:t>
            </a:r>
            <a:endParaRPr lang="en-US" sz="950" dirty="0"/>
          </a:p>
        </p:txBody>
      </p:sp>
      <p:sp>
        <p:nvSpPr>
          <p:cNvPr id="10" name="Text 8"/>
          <p:cNvSpPr/>
          <p:nvPr/>
        </p:nvSpPr>
        <p:spPr>
          <a:xfrm>
            <a:off x="9710928" y="2057400"/>
            <a:ext cx="1792224" cy="274320"/>
          </a:xfrm>
          <a:prstGeom prst="rect">
            <a:avLst/>
          </a:prstGeom>
          <a:noFill/>
          <a:ln/>
        </p:spPr>
        <p:txBody>
          <a:bodyPr wrap="square" lIns="0" tIns="0" rIns="0" bIns="0" rtlCol="0" anchor="ctr"/>
          <a:lstStyle/>
          <a:p>
            <a:pPr indent="0" marL="0">
              <a:buNone/>
            </a:pPr>
            <a:r>
              <a:rPr lang="en-US" sz="950" spc="80" kern="0" dirty="0">
                <a:solidFill>
                  <a:srgbClr val="8A9099"/>
                </a:solidFill>
                <a:latin typeface="Courier New" pitchFamily="34" charset="0"/>
                <a:ea typeface="Courier New" pitchFamily="34" charset="-122"/>
                <a:cs typeface="Courier New" pitchFamily="34" charset="-120"/>
              </a:rPr>
              <a:t>Significance</a:t>
            </a:r>
            <a:endParaRPr lang="en-US" sz="950" dirty="0"/>
          </a:p>
        </p:txBody>
      </p:sp>
      <p:sp>
        <p:nvSpPr>
          <p:cNvPr id="11" name="Shape 9"/>
          <p:cNvSpPr/>
          <p:nvPr/>
        </p:nvSpPr>
        <p:spPr>
          <a:xfrm>
            <a:off x="658368" y="2359152"/>
            <a:ext cx="10424160" cy="0"/>
          </a:xfrm>
          <a:prstGeom prst="line">
            <a:avLst/>
          </a:prstGeom>
          <a:noFill/>
          <a:ln w="12700">
            <a:solidFill>
              <a:srgbClr val="D4D1C8"/>
            </a:solidFill>
            <a:prstDash val="solid"/>
          </a:ln>
        </p:spPr>
      </p:sp>
      <p:sp>
        <p:nvSpPr>
          <p:cNvPr id="12" name="Text 10"/>
          <p:cNvSpPr/>
          <p:nvPr/>
        </p:nvSpPr>
        <p:spPr>
          <a:xfrm>
            <a:off x="658368" y="2505456"/>
            <a:ext cx="2651760"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Susto &amp; McLoone (2015)</a:t>
            </a:r>
            <a:endParaRPr lang="en-US" sz="1100" dirty="0"/>
          </a:p>
        </p:txBody>
      </p:sp>
      <p:sp>
        <p:nvSpPr>
          <p:cNvPr id="13" name="Text 11"/>
          <p:cNvSpPr/>
          <p:nvPr/>
        </p:nvSpPr>
        <p:spPr>
          <a:xfrm>
            <a:off x="3310128" y="2505456"/>
            <a:ext cx="2560320"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Engineered features</a:t>
            </a:r>
            <a:endParaRPr lang="en-US" sz="1100" dirty="0"/>
          </a:p>
        </p:txBody>
      </p:sp>
      <p:sp>
        <p:nvSpPr>
          <p:cNvPr id="14" name="Text 12"/>
          <p:cNvSpPr/>
          <p:nvPr/>
        </p:nvSpPr>
        <p:spPr>
          <a:xfrm>
            <a:off x="5870448" y="2505456"/>
            <a:ext cx="1280160"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7150608" y="2505456"/>
            <a:ext cx="1325880" cy="384048"/>
          </a:xfrm>
          <a:prstGeom prst="rect">
            <a:avLst/>
          </a:prstGeom>
          <a:noFill/>
          <a:ln/>
        </p:spPr>
        <p:txBody>
          <a:bodyPr wrap="square" lIns="0" tIns="0" rIns="0" bIns="0" rtlCol="0" anchor="ctr"/>
          <a:lstStyle/>
          <a:p>
            <a:pPr indent="0" marL="0">
              <a:buNone/>
            </a:pPr>
            <a:r>
              <a:rPr lang="en-US" sz="1100" dirty="0">
                <a:solidFill>
                  <a:srgbClr val="AD6425"/>
                </a:solidFill>
                <a:latin typeface="Calibri" pitchFamily="34" charset="0"/>
                <a:ea typeface="Calibri" pitchFamily="34" charset="-122"/>
                <a:cs typeface="Calibri" pitchFamily="34" charset="-120"/>
              </a:rPr>
              <a:t>No</a:t>
            </a:r>
            <a:endParaRPr lang="en-US" sz="1100" dirty="0"/>
          </a:p>
        </p:txBody>
      </p:sp>
      <p:sp>
        <p:nvSpPr>
          <p:cNvPr id="16" name="Text 14"/>
          <p:cNvSpPr/>
          <p:nvPr/>
        </p:nvSpPr>
        <p:spPr>
          <a:xfrm>
            <a:off x="8476488" y="2505456"/>
            <a:ext cx="1234440" cy="384048"/>
          </a:xfrm>
          <a:prstGeom prst="rect">
            <a:avLst/>
          </a:prstGeom>
          <a:noFill/>
          <a:ln/>
        </p:spPr>
        <p:txBody>
          <a:bodyPr wrap="square" lIns="0" tIns="0" rIns="0" bIns="0" rtlCol="0" anchor="ctr"/>
          <a:lstStyle/>
          <a:p>
            <a:pPr indent="0" marL="0">
              <a:buNone/>
            </a:pPr>
            <a:r>
              <a:rPr lang="en-US" sz="1100" dirty="0">
                <a:solidFill>
                  <a:srgbClr val="AD6425"/>
                </a:solidFill>
                <a:latin typeface="Calibri" pitchFamily="34" charset="0"/>
                <a:ea typeface="Calibri" pitchFamily="34" charset="-122"/>
                <a:cs typeface="Calibri" pitchFamily="34" charset="-120"/>
              </a:rPr>
              <a:t>No</a:t>
            </a:r>
            <a:endParaRPr lang="en-US" sz="1100" dirty="0"/>
          </a:p>
        </p:txBody>
      </p:sp>
      <p:sp>
        <p:nvSpPr>
          <p:cNvPr id="17" name="Text 15"/>
          <p:cNvSpPr/>
          <p:nvPr/>
        </p:nvSpPr>
        <p:spPr>
          <a:xfrm>
            <a:off x="9710928" y="2505456"/>
            <a:ext cx="1792224"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Monte Carlo CV</a:t>
            </a:r>
            <a:endParaRPr lang="en-US" sz="1100" dirty="0"/>
          </a:p>
        </p:txBody>
      </p:sp>
      <p:sp>
        <p:nvSpPr>
          <p:cNvPr id="18" name="Text 16"/>
          <p:cNvSpPr/>
          <p:nvPr/>
        </p:nvSpPr>
        <p:spPr>
          <a:xfrm>
            <a:off x="658368" y="3108960"/>
            <a:ext cx="2651760"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Žagar &amp; Mihelič (2022)</a:t>
            </a:r>
            <a:endParaRPr lang="en-US" sz="1100" dirty="0"/>
          </a:p>
        </p:txBody>
      </p:sp>
      <p:sp>
        <p:nvSpPr>
          <p:cNvPr id="19" name="Text 17"/>
          <p:cNvSpPr/>
          <p:nvPr/>
        </p:nvSpPr>
        <p:spPr>
          <a:xfrm>
            <a:off x="3310128" y="3108960"/>
            <a:ext cx="2560320"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Engineered features</a:t>
            </a:r>
            <a:endParaRPr lang="en-US" sz="1100" dirty="0"/>
          </a:p>
        </p:txBody>
      </p:sp>
      <p:sp>
        <p:nvSpPr>
          <p:cNvPr id="20" name="Text 18"/>
          <p:cNvSpPr/>
          <p:nvPr/>
        </p:nvSpPr>
        <p:spPr>
          <a:xfrm>
            <a:off x="5870448" y="3108960"/>
            <a:ext cx="1280160"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Several</a:t>
            </a:r>
            <a:endParaRPr lang="en-US" sz="1100" dirty="0"/>
          </a:p>
        </p:txBody>
      </p:sp>
      <p:sp>
        <p:nvSpPr>
          <p:cNvPr id="21" name="Text 19"/>
          <p:cNvSpPr/>
          <p:nvPr/>
        </p:nvSpPr>
        <p:spPr>
          <a:xfrm>
            <a:off x="7150608" y="3108960"/>
            <a:ext cx="1325880" cy="384048"/>
          </a:xfrm>
          <a:prstGeom prst="rect">
            <a:avLst/>
          </a:prstGeom>
          <a:noFill/>
          <a:ln/>
        </p:spPr>
        <p:txBody>
          <a:bodyPr wrap="square" lIns="0" tIns="0" rIns="0" bIns="0" rtlCol="0" anchor="ctr"/>
          <a:lstStyle/>
          <a:p>
            <a:pPr indent="0" marL="0">
              <a:buNone/>
            </a:pPr>
            <a:r>
              <a:rPr lang="en-US" sz="1100" dirty="0">
                <a:solidFill>
                  <a:srgbClr val="AD6425"/>
                </a:solidFill>
                <a:latin typeface="Calibri" pitchFamily="34" charset="0"/>
                <a:ea typeface="Calibri" pitchFamily="34" charset="-122"/>
                <a:cs typeface="Calibri" pitchFamily="34" charset="-120"/>
              </a:rPr>
              <a:t>No</a:t>
            </a:r>
            <a:endParaRPr lang="en-US" sz="1100" dirty="0"/>
          </a:p>
        </p:txBody>
      </p:sp>
      <p:sp>
        <p:nvSpPr>
          <p:cNvPr id="22" name="Text 20"/>
          <p:cNvSpPr/>
          <p:nvPr/>
        </p:nvSpPr>
        <p:spPr>
          <a:xfrm>
            <a:off x="8476488" y="3108960"/>
            <a:ext cx="1234440" cy="384048"/>
          </a:xfrm>
          <a:prstGeom prst="rect">
            <a:avLst/>
          </a:prstGeom>
          <a:noFill/>
          <a:ln/>
        </p:spPr>
        <p:txBody>
          <a:bodyPr wrap="square" lIns="0" tIns="0" rIns="0" bIns="0" rtlCol="0" anchor="ctr"/>
          <a:lstStyle/>
          <a:p>
            <a:pPr indent="0" marL="0">
              <a:buNone/>
            </a:pPr>
            <a:r>
              <a:rPr lang="en-US" sz="1100" dirty="0">
                <a:solidFill>
                  <a:srgbClr val="AD6425"/>
                </a:solidFill>
                <a:latin typeface="Calibri" pitchFamily="34" charset="0"/>
                <a:ea typeface="Calibri" pitchFamily="34" charset="-122"/>
                <a:cs typeface="Calibri" pitchFamily="34" charset="-120"/>
              </a:rPr>
              <a:t>No</a:t>
            </a:r>
            <a:endParaRPr lang="en-US" sz="1100" dirty="0"/>
          </a:p>
        </p:txBody>
      </p:sp>
      <p:sp>
        <p:nvSpPr>
          <p:cNvPr id="23" name="Text 21"/>
          <p:cNvSpPr/>
          <p:nvPr/>
        </p:nvSpPr>
        <p:spPr>
          <a:xfrm>
            <a:off x="9710928" y="3108960"/>
            <a:ext cx="1792224"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Benchmark only</a:t>
            </a:r>
            <a:endParaRPr lang="en-US" sz="1100" dirty="0"/>
          </a:p>
        </p:txBody>
      </p:sp>
      <p:sp>
        <p:nvSpPr>
          <p:cNvPr id="24" name="Text 22"/>
          <p:cNvSpPr/>
          <p:nvPr/>
        </p:nvSpPr>
        <p:spPr>
          <a:xfrm>
            <a:off x="658368" y="3712464"/>
            <a:ext cx="2651760"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Wang et al. (2025)</a:t>
            </a:r>
            <a:endParaRPr lang="en-US" sz="1100" dirty="0"/>
          </a:p>
        </p:txBody>
      </p:sp>
      <p:sp>
        <p:nvSpPr>
          <p:cNvPr id="25" name="Text 23"/>
          <p:cNvSpPr/>
          <p:nvPr/>
        </p:nvSpPr>
        <p:spPr>
          <a:xfrm>
            <a:off x="3310128" y="3712464"/>
            <a:ext cx="2560320"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Features + graph</a:t>
            </a:r>
            <a:endParaRPr lang="en-US" sz="1100" dirty="0"/>
          </a:p>
        </p:txBody>
      </p:sp>
      <p:sp>
        <p:nvSpPr>
          <p:cNvPr id="26" name="Text 24"/>
          <p:cNvSpPr/>
          <p:nvPr/>
        </p:nvSpPr>
        <p:spPr>
          <a:xfrm>
            <a:off x="5870448" y="3712464"/>
            <a:ext cx="1280160"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Several</a:t>
            </a:r>
            <a:endParaRPr lang="en-US" sz="1100" dirty="0"/>
          </a:p>
        </p:txBody>
      </p:sp>
      <p:sp>
        <p:nvSpPr>
          <p:cNvPr id="27" name="Text 25"/>
          <p:cNvSpPr/>
          <p:nvPr/>
        </p:nvSpPr>
        <p:spPr>
          <a:xfrm>
            <a:off x="7150608" y="3712464"/>
            <a:ext cx="1325880" cy="384048"/>
          </a:xfrm>
          <a:prstGeom prst="rect">
            <a:avLst/>
          </a:prstGeom>
          <a:noFill/>
          <a:ln/>
        </p:spPr>
        <p:txBody>
          <a:bodyPr wrap="square" lIns="0" tIns="0" rIns="0" bIns="0" rtlCol="0" anchor="ctr"/>
          <a:lstStyle/>
          <a:p>
            <a:pPr indent="0" marL="0">
              <a:buNone/>
            </a:pPr>
            <a:r>
              <a:rPr lang="en-US" sz="1100" dirty="0">
                <a:solidFill>
                  <a:srgbClr val="AD6425"/>
                </a:solidFill>
                <a:latin typeface="Calibri" pitchFamily="34" charset="0"/>
                <a:ea typeface="Calibri" pitchFamily="34" charset="-122"/>
                <a:cs typeface="Calibri" pitchFamily="34" charset="-120"/>
              </a:rPr>
              <a:t>No</a:t>
            </a:r>
            <a:endParaRPr lang="en-US" sz="1100" dirty="0"/>
          </a:p>
        </p:txBody>
      </p:sp>
      <p:sp>
        <p:nvSpPr>
          <p:cNvPr id="28" name="Text 26"/>
          <p:cNvSpPr/>
          <p:nvPr/>
        </p:nvSpPr>
        <p:spPr>
          <a:xfrm>
            <a:off x="8476488" y="3712464"/>
            <a:ext cx="1234440" cy="384048"/>
          </a:xfrm>
          <a:prstGeom prst="rect">
            <a:avLst/>
          </a:prstGeom>
          <a:noFill/>
          <a:ln/>
        </p:spPr>
        <p:txBody>
          <a:bodyPr wrap="square" lIns="0" tIns="0" rIns="0" bIns="0" rtlCol="0" anchor="ctr"/>
          <a:lstStyle/>
          <a:p>
            <a:pPr indent="0" marL="0">
              <a:buNone/>
            </a:pPr>
            <a:r>
              <a:rPr lang="en-US" sz="1100" dirty="0">
                <a:solidFill>
                  <a:srgbClr val="AD6425"/>
                </a:solidFill>
                <a:latin typeface="Calibri" pitchFamily="34" charset="0"/>
                <a:ea typeface="Calibri" pitchFamily="34" charset="-122"/>
                <a:cs typeface="Calibri" pitchFamily="34" charset="-120"/>
              </a:rPr>
              <a:t>No</a:t>
            </a:r>
            <a:endParaRPr lang="en-US" sz="1100" dirty="0"/>
          </a:p>
        </p:txBody>
      </p:sp>
      <p:sp>
        <p:nvSpPr>
          <p:cNvPr id="29" name="Text 27"/>
          <p:cNvSpPr/>
          <p:nvPr/>
        </p:nvSpPr>
        <p:spPr>
          <a:xfrm>
            <a:off x="9710928" y="3712464"/>
            <a:ext cx="1792224" cy="384048"/>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Not corrected</a:t>
            </a:r>
            <a:endParaRPr lang="en-US" sz="1100" dirty="0"/>
          </a:p>
        </p:txBody>
      </p:sp>
      <p:sp>
        <p:nvSpPr>
          <p:cNvPr id="30" name="Shape 28"/>
          <p:cNvSpPr/>
          <p:nvPr/>
        </p:nvSpPr>
        <p:spPr>
          <a:xfrm>
            <a:off x="530352" y="4224528"/>
            <a:ext cx="10881360" cy="566928"/>
          </a:xfrm>
          <a:prstGeom prst="roundRect">
            <a:avLst>
              <a:gd name="adj" fmla="val 8065"/>
            </a:avLst>
          </a:prstGeom>
          <a:solidFill>
            <a:srgbClr val="E5EDF4"/>
          </a:solidFill>
          <a:ln w="12700">
            <a:solidFill>
              <a:srgbClr val="1F5C8B"/>
            </a:solidFill>
            <a:prstDash val="solid"/>
          </a:ln>
        </p:spPr>
      </p:sp>
      <p:sp>
        <p:nvSpPr>
          <p:cNvPr id="31" name="Text 29"/>
          <p:cNvSpPr/>
          <p:nvPr/>
        </p:nvSpPr>
        <p:spPr>
          <a:xfrm>
            <a:off x="658368" y="4315968"/>
            <a:ext cx="2651760" cy="384048"/>
          </a:xfrm>
          <a:prstGeom prst="rect">
            <a:avLst/>
          </a:prstGeom>
          <a:noFill/>
          <a:ln/>
        </p:spPr>
        <p:txBody>
          <a:bodyPr wrap="square" lIns="0" tIns="0" rIns="0" bIns="0" rtlCol="0" anchor="ctr"/>
          <a:lstStyle/>
          <a:p>
            <a:pPr indent="0" marL="0">
              <a:buNone/>
            </a:pPr>
            <a:r>
              <a:rPr lang="en-US" sz="1100" b="1" dirty="0">
                <a:solidFill>
                  <a:srgbClr val="141A21"/>
                </a:solidFill>
                <a:latin typeface="Calibri" pitchFamily="34" charset="0"/>
                <a:ea typeface="Calibri" pitchFamily="34" charset="-122"/>
                <a:cs typeface="Calibri" pitchFamily="34" charset="-120"/>
              </a:rPr>
              <a:t>This work</a:t>
            </a:r>
            <a:endParaRPr lang="en-US" sz="1100" dirty="0"/>
          </a:p>
        </p:txBody>
      </p:sp>
      <p:sp>
        <p:nvSpPr>
          <p:cNvPr id="32" name="Text 30"/>
          <p:cNvSpPr/>
          <p:nvPr/>
        </p:nvSpPr>
        <p:spPr>
          <a:xfrm>
            <a:off x="3310128" y="4315968"/>
            <a:ext cx="2560320" cy="384048"/>
          </a:xfrm>
          <a:prstGeom prst="rect">
            <a:avLst/>
          </a:prstGeom>
          <a:noFill/>
          <a:ln/>
        </p:spPr>
        <p:txBody>
          <a:bodyPr wrap="square" lIns="0" tIns="0" rIns="0" bIns="0" rtlCol="0" anchor="ctr"/>
          <a:lstStyle/>
          <a:p>
            <a:pPr indent="0" marL="0">
              <a:buNone/>
            </a:pPr>
            <a:r>
              <a:rPr lang="en-US" sz="1100" b="1" dirty="0">
                <a:solidFill>
                  <a:srgbClr val="141A21"/>
                </a:solidFill>
                <a:latin typeface="Calibri" pitchFamily="34" charset="0"/>
                <a:ea typeface="Calibri" pitchFamily="34" charset="-122"/>
                <a:cs typeface="Calibri" pitchFamily="34" charset="-120"/>
              </a:rPr>
              <a:t>Raw 10-channel trajectory</a:t>
            </a:r>
            <a:endParaRPr lang="en-US" sz="1100" dirty="0"/>
          </a:p>
        </p:txBody>
      </p:sp>
      <p:sp>
        <p:nvSpPr>
          <p:cNvPr id="33" name="Text 31"/>
          <p:cNvSpPr/>
          <p:nvPr/>
        </p:nvSpPr>
        <p:spPr>
          <a:xfrm>
            <a:off x="5870448" y="4315968"/>
            <a:ext cx="1280160" cy="384048"/>
          </a:xfrm>
          <a:prstGeom prst="rect">
            <a:avLst/>
          </a:prstGeom>
          <a:noFill/>
          <a:ln/>
        </p:spPr>
        <p:txBody>
          <a:bodyPr wrap="square" lIns="0" tIns="0" rIns="0" bIns="0" rtlCol="0" anchor="ctr"/>
          <a:lstStyle/>
          <a:p>
            <a:pPr indent="0" marL="0">
              <a:buNone/>
            </a:pPr>
            <a:r>
              <a:rPr lang="en-US" sz="1100" b="1" dirty="0">
                <a:solidFill>
                  <a:srgbClr val="141A21"/>
                </a:solidFill>
                <a:latin typeface="Calibri" pitchFamily="34" charset="0"/>
                <a:ea typeface="Calibri" pitchFamily="34" charset="-122"/>
                <a:cs typeface="Calibri" pitchFamily="34" charset="-120"/>
              </a:rPr>
              <a:t>4, jointly</a:t>
            </a:r>
            <a:endParaRPr lang="en-US" sz="1100" dirty="0"/>
          </a:p>
        </p:txBody>
      </p:sp>
      <p:sp>
        <p:nvSpPr>
          <p:cNvPr id="34" name="Text 32"/>
          <p:cNvSpPr/>
          <p:nvPr/>
        </p:nvSpPr>
        <p:spPr>
          <a:xfrm>
            <a:off x="7150608" y="4315968"/>
            <a:ext cx="1325880" cy="384048"/>
          </a:xfrm>
          <a:prstGeom prst="rect">
            <a:avLst/>
          </a:prstGeom>
          <a:noFill/>
          <a:ln/>
        </p:spPr>
        <p:txBody>
          <a:bodyPr wrap="square" lIns="0" tIns="0" rIns="0" bIns="0" rtlCol="0" anchor="ctr"/>
          <a:lstStyle/>
          <a:p>
            <a:pPr indent="0" marL="0">
              <a:buNone/>
            </a:pPr>
            <a:r>
              <a:rPr lang="en-US" sz="1100" b="1" dirty="0">
                <a:solidFill>
                  <a:srgbClr val="1F6F55"/>
                </a:solidFill>
                <a:latin typeface="Calibri" pitchFamily="34" charset="0"/>
                <a:ea typeface="Calibri" pitchFamily="34" charset="-122"/>
                <a:cs typeface="Calibri" pitchFamily="34" charset="-120"/>
              </a:rPr>
              <a:t>Yes</a:t>
            </a:r>
            <a:endParaRPr lang="en-US" sz="1100" dirty="0"/>
          </a:p>
        </p:txBody>
      </p:sp>
      <p:sp>
        <p:nvSpPr>
          <p:cNvPr id="35" name="Text 33"/>
          <p:cNvSpPr/>
          <p:nvPr/>
        </p:nvSpPr>
        <p:spPr>
          <a:xfrm>
            <a:off x="8476488" y="4315968"/>
            <a:ext cx="1234440" cy="384048"/>
          </a:xfrm>
          <a:prstGeom prst="rect">
            <a:avLst/>
          </a:prstGeom>
          <a:noFill/>
          <a:ln/>
        </p:spPr>
        <p:txBody>
          <a:bodyPr wrap="square" lIns="0" tIns="0" rIns="0" bIns="0" rtlCol="0" anchor="ctr"/>
          <a:lstStyle/>
          <a:p>
            <a:pPr indent="0" marL="0">
              <a:buNone/>
            </a:pPr>
            <a:r>
              <a:rPr lang="en-US" sz="1100" b="1" dirty="0">
                <a:solidFill>
                  <a:srgbClr val="1F6F55"/>
                </a:solidFill>
                <a:latin typeface="Calibri" pitchFamily="34" charset="0"/>
                <a:ea typeface="Calibri" pitchFamily="34" charset="-122"/>
                <a:cs typeface="Calibri" pitchFamily="34" charset="-120"/>
              </a:rPr>
              <a:t>Yes</a:t>
            </a:r>
            <a:endParaRPr lang="en-US" sz="1100" dirty="0"/>
          </a:p>
        </p:txBody>
      </p:sp>
      <p:sp>
        <p:nvSpPr>
          <p:cNvPr id="36" name="Text 34"/>
          <p:cNvSpPr/>
          <p:nvPr/>
        </p:nvSpPr>
        <p:spPr>
          <a:xfrm>
            <a:off x="9710928" y="4315968"/>
            <a:ext cx="1792224" cy="384048"/>
          </a:xfrm>
          <a:prstGeom prst="rect">
            <a:avLst/>
          </a:prstGeom>
          <a:noFill/>
          <a:ln/>
        </p:spPr>
        <p:txBody>
          <a:bodyPr wrap="square" lIns="0" tIns="0" rIns="0" bIns="0" rtlCol="0" anchor="ctr"/>
          <a:lstStyle/>
          <a:p>
            <a:pPr indent="0" marL="0">
              <a:buNone/>
            </a:pPr>
            <a:r>
              <a:rPr lang="en-US" sz="1100" b="1" dirty="0">
                <a:solidFill>
                  <a:srgbClr val="1F6F55"/>
                </a:solidFill>
                <a:latin typeface="Calibri" pitchFamily="34" charset="0"/>
                <a:ea typeface="Calibri" pitchFamily="34" charset="-122"/>
                <a:cs typeface="Calibri" pitchFamily="34" charset="-120"/>
              </a:rPr>
              <a:t>Nadeau–Bengio</a:t>
            </a:r>
            <a:endParaRPr lang="en-US" sz="1100" dirty="0"/>
          </a:p>
        </p:txBody>
      </p:sp>
      <p:sp>
        <p:nvSpPr>
          <p:cNvPr id="37" name="Shape 35"/>
          <p:cNvSpPr/>
          <p:nvPr/>
        </p:nvSpPr>
        <p:spPr>
          <a:xfrm>
            <a:off x="658368" y="5074920"/>
            <a:ext cx="3383280" cy="1234440"/>
          </a:xfrm>
          <a:prstGeom prst="roundRect">
            <a:avLst>
              <a:gd name="adj" fmla="val 4444"/>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38" name="Shape 36"/>
          <p:cNvSpPr/>
          <p:nvPr/>
        </p:nvSpPr>
        <p:spPr>
          <a:xfrm>
            <a:off x="658368" y="5074920"/>
            <a:ext cx="73152" cy="1234440"/>
          </a:xfrm>
          <a:prstGeom prst="roundRect">
            <a:avLst>
              <a:gd name="adj" fmla="val 37500"/>
            </a:avLst>
          </a:prstGeom>
          <a:solidFill>
            <a:srgbClr val="1F5C8B"/>
          </a:solidFill>
          <a:ln w="12700">
            <a:solidFill>
              <a:srgbClr val="1F5C8B"/>
            </a:solidFill>
            <a:prstDash val="solid"/>
          </a:ln>
        </p:spPr>
      </p:sp>
      <p:sp>
        <p:nvSpPr>
          <p:cNvPr id="39" name="Text 37"/>
          <p:cNvSpPr/>
          <p:nvPr/>
        </p:nvSpPr>
        <p:spPr>
          <a:xfrm>
            <a:off x="914400" y="5212080"/>
            <a:ext cx="3017520" cy="274320"/>
          </a:xfrm>
          <a:prstGeom prst="rect">
            <a:avLst/>
          </a:prstGeom>
          <a:noFill/>
          <a:ln/>
        </p:spPr>
        <p:txBody>
          <a:bodyPr wrap="square" lIns="0" tIns="0" rIns="0" bIns="0" rtlCol="0" anchor="ctr"/>
          <a:lstStyle/>
          <a:p>
            <a:pPr indent="0" marL="0">
              <a:buNone/>
            </a:pPr>
            <a:r>
              <a:rPr lang="en-US" sz="1300" b="1" dirty="0">
                <a:solidFill>
                  <a:srgbClr val="141A21"/>
                </a:solidFill>
                <a:latin typeface="Cambria" pitchFamily="34" charset="0"/>
                <a:ea typeface="Cambria" pitchFamily="34" charset="-122"/>
                <a:cs typeface="Cambria" pitchFamily="34" charset="-120"/>
              </a:rPr>
              <a:t>Signal thrown away first</a:t>
            </a:r>
            <a:endParaRPr lang="en-US" sz="1300" dirty="0"/>
          </a:p>
        </p:txBody>
      </p:sp>
      <p:sp>
        <p:nvSpPr>
          <p:cNvPr id="40" name="Text 38"/>
          <p:cNvSpPr/>
          <p:nvPr/>
        </p:nvSpPr>
        <p:spPr>
          <a:xfrm>
            <a:off x="914400" y="5522976"/>
            <a:ext cx="3017520" cy="685800"/>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Runs lasting hours are reduced to a handful of summary statistics before modelling starts.</a:t>
            </a:r>
            <a:endParaRPr lang="en-US" sz="1050" dirty="0"/>
          </a:p>
        </p:txBody>
      </p:sp>
      <p:sp>
        <p:nvSpPr>
          <p:cNvPr id="41" name="Shape 39"/>
          <p:cNvSpPr/>
          <p:nvPr/>
        </p:nvSpPr>
        <p:spPr>
          <a:xfrm>
            <a:off x="4315968" y="5074920"/>
            <a:ext cx="3383280" cy="1234440"/>
          </a:xfrm>
          <a:prstGeom prst="roundRect">
            <a:avLst>
              <a:gd name="adj" fmla="val 4444"/>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42" name="Shape 40"/>
          <p:cNvSpPr/>
          <p:nvPr/>
        </p:nvSpPr>
        <p:spPr>
          <a:xfrm>
            <a:off x="4315968" y="5074920"/>
            <a:ext cx="73152" cy="1234440"/>
          </a:xfrm>
          <a:prstGeom prst="roundRect">
            <a:avLst>
              <a:gd name="adj" fmla="val 37500"/>
            </a:avLst>
          </a:prstGeom>
          <a:solidFill>
            <a:srgbClr val="1F6F55"/>
          </a:solidFill>
          <a:ln w="12700">
            <a:solidFill>
              <a:srgbClr val="1F6F55"/>
            </a:solidFill>
            <a:prstDash val="solid"/>
          </a:ln>
        </p:spPr>
      </p:sp>
      <p:sp>
        <p:nvSpPr>
          <p:cNvPr id="43" name="Text 41"/>
          <p:cNvSpPr/>
          <p:nvPr/>
        </p:nvSpPr>
        <p:spPr>
          <a:xfrm>
            <a:off x="4572000" y="5212080"/>
            <a:ext cx="3017520" cy="274320"/>
          </a:xfrm>
          <a:prstGeom prst="rect">
            <a:avLst/>
          </a:prstGeom>
          <a:noFill/>
          <a:ln/>
        </p:spPr>
        <p:txBody>
          <a:bodyPr wrap="square" lIns="0" tIns="0" rIns="0" bIns="0" rtlCol="0" anchor="ctr"/>
          <a:lstStyle/>
          <a:p>
            <a:pPr indent="0" marL="0">
              <a:buNone/>
            </a:pPr>
            <a:r>
              <a:rPr lang="en-US" sz="1300" b="1" dirty="0">
                <a:solidFill>
                  <a:srgbClr val="141A21"/>
                </a:solidFill>
                <a:latin typeface="Cambria" pitchFamily="34" charset="0"/>
                <a:ea typeface="Cambria" pitchFamily="34" charset="-122"/>
                <a:cs typeface="Cambria" pitchFamily="34" charset="-120"/>
              </a:rPr>
              <a:t>Attributes modelled alone</a:t>
            </a:r>
            <a:endParaRPr lang="en-US" sz="1300" dirty="0"/>
          </a:p>
        </p:txBody>
      </p:sp>
      <p:sp>
        <p:nvSpPr>
          <p:cNvPr id="44" name="Text 42"/>
          <p:cNvSpPr/>
          <p:nvPr/>
        </p:nvSpPr>
        <p:spPr>
          <a:xfrm>
            <a:off x="4572000" y="5522976"/>
            <a:ext cx="3017520" cy="685800"/>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Four physically linked quality attributes are treated as separate regression problems.</a:t>
            </a:r>
            <a:endParaRPr lang="en-US" sz="1050" dirty="0"/>
          </a:p>
        </p:txBody>
      </p:sp>
      <p:sp>
        <p:nvSpPr>
          <p:cNvPr id="45" name="Shape 43"/>
          <p:cNvSpPr/>
          <p:nvPr/>
        </p:nvSpPr>
        <p:spPr>
          <a:xfrm>
            <a:off x="7973568" y="5074920"/>
            <a:ext cx="3383280" cy="1234440"/>
          </a:xfrm>
          <a:prstGeom prst="roundRect">
            <a:avLst>
              <a:gd name="adj" fmla="val 4444"/>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46" name="Shape 44"/>
          <p:cNvSpPr/>
          <p:nvPr/>
        </p:nvSpPr>
        <p:spPr>
          <a:xfrm>
            <a:off x="7973568" y="5074920"/>
            <a:ext cx="73152" cy="1234440"/>
          </a:xfrm>
          <a:prstGeom prst="roundRect">
            <a:avLst>
              <a:gd name="adj" fmla="val 37500"/>
            </a:avLst>
          </a:prstGeom>
          <a:solidFill>
            <a:srgbClr val="AD6425"/>
          </a:solidFill>
          <a:ln w="12700">
            <a:solidFill>
              <a:srgbClr val="AD6425"/>
            </a:solidFill>
            <a:prstDash val="solid"/>
          </a:ln>
        </p:spPr>
      </p:sp>
      <p:sp>
        <p:nvSpPr>
          <p:cNvPr id="47" name="Text 45"/>
          <p:cNvSpPr/>
          <p:nvPr/>
        </p:nvSpPr>
        <p:spPr>
          <a:xfrm>
            <a:off x="8229600" y="5212080"/>
            <a:ext cx="3017520" cy="274320"/>
          </a:xfrm>
          <a:prstGeom prst="rect">
            <a:avLst/>
          </a:prstGeom>
          <a:noFill/>
          <a:ln/>
        </p:spPr>
        <p:txBody>
          <a:bodyPr wrap="square" lIns="0" tIns="0" rIns="0" bIns="0" rtlCol="0" anchor="ctr"/>
          <a:lstStyle/>
          <a:p>
            <a:pPr indent="0" marL="0">
              <a:buNone/>
            </a:pPr>
            <a:r>
              <a:rPr lang="en-US" sz="1300" b="1" dirty="0">
                <a:solidFill>
                  <a:srgbClr val="141A21"/>
                </a:solidFill>
                <a:latin typeface="Cambria" pitchFamily="34" charset="0"/>
                <a:ea typeface="Cambria" pitchFamily="34" charset="-122"/>
                <a:cs typeface="Cambria" pitchFamily="34" charset="-120"/>
              </a:rPr>
              <a:t>No trustworthy confidence</a:t>
            </a:r>
            <a:endParaRPr lang="en-US" sz="1300" dirty="0"/>
          </a:p>
        </p:txBody>
      </p:sp>
      <p:sp>
        <p:nvSpPr>
          <p:cNvPr id="48" name="Text 46"/>
          <p:cNvSpPr/>
          <p:nvPr/>
        </p:nvSpPr>
        <p:spPr>
          <a:xfrm>
            <a:off x="8229600" y="5522976"/>
            <a:ext cx="3017520" cy="685800"/>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A number arrives with no dependable statement of how far it can be believed.</a:t>
            </a:r>
            <a:endParaRPr lang="en-US" sz="1050" dirty="0"/>
          </a:p>
        </p:txBody>
      </p:sp>
      <p:sp>
        <p:nvSpPr>
          <p:cNvPr id="49" name="Text 47"/>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
        <p:nvSpPr>
          <p:cNvPr id="50" name="Text 48"/>
          <p:cNvSpPr/>
          <p:nvPr/>
        </p:nvSpPr>
        <p:spPr>
          <a:xfrm>
            <a:off x="10954512" y="6400800"/>
            <a:ext cx="548640" cy="256032"/>
          </a:xfrm>
          <a:prstGeom prst="rect">
            <a:avLst/>
          </a:prstGeom>
          <a:noFill/>
          <a:ln/>
        </p:spPr>
        <p:txBody>
          <a:bodyPr wrap="square" lIns="0" tIns="0" rIns="0" bIns="0" rtlCol="0" anchor="ctr"/>
          <a:lstStyle/>
          <a:p>
            <a:pPr algn="r" indent="0" marL="0">
              <a:buNone/>
            </a:pPr>
            <a:r>
              <a:rPr lang="en-US" sz="950" dirty="0">
                <a:solidFill>
                  <a:srgbClr val="8A9099"/>
                </a:solidFill>
                <a:latin typeface="Courier New" pitchFamily="34" charset="0"/>
                <a:ea typeface="Courier New" pitchFamily="34" charset="-122"/>
                <a:cs typeface="Courier New" pitchFamily="34" charset="-120"/>
              </a:rPr>
              <a:t>1</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347472"/>
            <a:ext cx="8229600" cy="237744"/>
          </a:xfrm>
          <a:prstGeom prst="rect">
            <a:avLst/>
          </a:prstGeom>
          <a:noFill/>
          <a:ln/>
        </p:spPr>
        <p:txBody>
          <a:bodyPr wrap="square" lIns="0" tIns="0" rIns="0" bIns="0" rtlCol="0" anchor="ctr"/>
          <a:lstStyle/>
          <a:p>
            <a:pPr indent="0" marL="0">
              <a:buNone/>
            </a:pPr>
            <a:r>
              <a:rPr lang="en-US" sz="1050" b="1" spc="200" kern="0" dirty="0">
                <a:solidFill>
                  <a:srgbClr val="1F5C8B"/>
                </a:solidFill>
                <a:latin typeface="Courier New" pitchFamily="34" charset="0"/>
                <a:ea typeface="Courier New" pitchFamily="34" charset="-122"/>
                <a:cs typeface="Courier New" pitchFamily="34" charset="-120"/>
              </a:rPr>
              <a:t>RESEARCH QUESTIONS</a:t>
            </a:r>
            <a:endParaRPr lang="en-US" sz="1050" dirty="0"/>
          </a:p>
        </p:txBody>
      </p:sp>
      <p:sp>
        <p:nvSpPr>
          <p:cNvPr id="3" name="Text 1"/>
          <p:cNvSpPr/>
          <p:nvPr/>
        </p:nvSpPr>
        <p:spPr>
          <a:xfrm>
            <a:off x="658368" y="676656"/>
            <a:ext cx="10844784" cy="548640"/>
          </a:xfrm>
          <a:prstGeom prst="rect">
            <a:avLst/>
          </a:prstGeom>
          <a:noFill/>
          <a:ln/>
        </p:spPr>
        <p:txBody>
          <a:bodyPr wrap="square" lIns="0" tIns="0" rIns="0" bIns="0" rtlCol="0" anchor="t"/>
          <a:lstStyle/>
          <a:p>
            <a:pPr indent="0" marL="0">
              <a:buNone/>
            </a:pPr>
            <a:r>
              <a:rPr lang="en-US" sz="3000" b="1" dirty="0">
                <a:solidFill>
                  <a:srgbClr val="141A21"/>
                </a:solidFill>
                <a:latin typeface="Cambria" pitchFamily="34" charset="0"/>
                <a:ea typeface="Cambria" pitchFamily="34" charset="-122"/>
                <a:cs typeface="Cambria" pitchFamily="34" charset="-120"/>
              </a:rPr>
              <a:t>One question, four parts</a:t>
            </a:r>
            <a:endParaRPr lang="en-US" sz="3000" dirty="0"/>
          </a:p>
        </p:txBody>
      </p:sp>
      <p:sp>
        <p:nvSpPr>
          <p:cNvPr id="4" name="Shape 2"/>
          <p:cNvSpPr/>
          <p:nvPr/>
        </p:nvSpPr>
        <p:spPr>
          <a:xfrm>
            <a:off x="658368" y="1920240"/>
            <a:ext cx="10844784" cy="914400"/>
          </a:xfrm>
          <a:prstGeom prst="roundRect">
            <a:avLst>
              <a:gd name="adj" fmla="val 6000"/>
            </a:avLst>
          </a:prstGeom>
          <a:solidFill>
            <a:srgbClr val="E5EDF4"/>
          </a:solidFill>
          <a:ln w="12700">
            <a:solidFill>
              <a:srgbClr val="1F5C8B"/>
            </a:solidFill>
            <a:prstDash val="solid"/>
          </a:ln>
        </p:spPr>
      </p:sp>
      <p:sp>
        <p:nvSpPr>
          <p:cNvPr id="5" name="Text 3"/>
          <p:cNvSpPr/>
          <p:nvPr/>
        </p:nvSpPr>
        <p:spPr>
          <a:xfrm>
            <a:off x="932688" y="2029968"/>
            <a:ext cx="10296144" cy="713232"/>
          </a:xfrm>
          <a:prstGeom prst="rect">
            <a:avLst/>
          </a:prstGeom>
          <a:noFill/>
          <a:ln/>
        </p:spPr>
        <p:txBody>
          <a:bodyPr wrap="square" lIns="0" tIns="0" rIns="0" bIns="0" rtlCol="0" anchor="ctr"/>
          <a:lstStyle/>
          <a:p>
            <a:pPr indent="0" marL="0">
              <a:buNone/>
            </a:pPr>
            <a:r>
              <a:rPr lang="en-US" sz="1300" i="1" dirty="0">
                <a:solidFill>
                  <a:srgbClr val="141A21"/>
                </a:solidFill>
                <a:latin typeface="Calibri" pitchFamily="34" charset="0"/>
                <a:ea typeface="Calibri" pitchFamily="34" charset="-122"/>
                <a:cs typeface="Calibri" pitchFamily="34" charset="-120"/>
              </a:rPr>
              <a:t>Can an end-to-end multi-task model reading raw compression trajectories match engineered-feature baselines, exploit the correlations between quality attributes, and supply calibrated uncertainty that stays informative on unseen product conditions?</a:t>
            </a:r>
            <a:endParaRPr lang="en-US" sz="1300" dirty="0"/>
          </a:p>
        </p:txBody>
      </p:sp>
      <p:sp>
        <p:nvSpPr>
          <p:cNvPr id="6" name="Shape 4"/>
          <p:cNvSpPr/>
          <p:nvPr/>
        </p:nvSpPr>
        <p:spPr>
          <a:xfrm>
            <a:off x="658368" y="3108960"/>
            <a:ext cx="5120640" cy="1325880"/>
          </a:xfrm>
          <a:prstGeom prst="roundRect">
            <a:avLst>
              <a:gd name="adj" fmla="val 4138"/>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7" name="Shape 5"/>
          <p:cNvSpPr/>
          <p:nvPr/>
        </p:nvSpPr>
        <p:spPr>
          <a:xfrm>
            <a:off x="859536" y="3310128"/>
            <a:ext cx="749808" cy="310896"/>
          </a:xfrm>
          <a:prstGeom prst="roundRect">
            <a:avLst>
              <a:gd name="adj" fmla="val 20588"/>
            </a:avLst>
          </a:prstGeom>
          <a:solidFill>
            <a:srgbClr val="1F5C8B"/>
          </a:solidFill>
          <a:ln w="12700">
            <a:solidFill>
              <a:srgbClr val="1F5C8B"/>
            </a:solidFill>
            <a:prstDash val="solid"/>
          </a:ln>
        </p:spPr>
      </p:sp>
      <p:sp>
        <p:nvSpPr>
          <p:cNvPr id="8" name="Text 6"/>
          <p:cNvSpPr/>
          <p:nvPr/>
        </p:nvSpPr>
        <p:spPr>
          <a:xfrm>
            <a:off x="859536" y="3310128"/>
            <a:ext cx="74980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RQ1</a:t>
            </a:r>
            <a:endParaRPr lang="en-US" sz="1050" dirty="0"/>
          </a:p>
        </p:txBody>
      </p:sp>
      <p:sp>
        <p:nvSpPr>
          <p:cNvPr id="9" name="Text 7"/>
          <p:cNvSpPr/>
          <p:nvPr/>
        </p:nvSpPr>
        <p:spPr>
          <a:xfrm>
            <a:off x="1719072" y="3310128"/>
            <a:ext cx="3840480" cy="310896"/>
          </a:xfrm>
          <a:prstGeom prst="rect">
            <a:avLst/>
          </a:prstGeom>
          <a:noFill/>
          <a:ln/>
        </p:spPr>
        <p:txBody>
          <a:bodyPr wrap="square" lIns="0" tIns="0" rIns="0" bIns="0" rtlCol="0" anchor="ctr"/>
          <a:lstStyle/>
          <a:p>
            <a:pPr indent="0" marL="0">
              <a:buNone/>
            </a:pPr>
            <a:r>
              <a:rPr lang="en-US" sz="1450" b="1" dirty="0">
                <a:solidFill>
                  <a:srgbClr val="141A21"/>
                </a:solidFill>
                <a:latin typeface="Cambria" pitchFamily="34" charset="0"/>
                <a:ea typeface="Cambria" pitchFamily="34" charset="-122"/>
                <a:cs typeface="Cambria" pitchFamily="34" charset="-120"/>
              </a:rPr>
              <a:t>Trajectory representation</a:t>
            </a:r>
            <a:endParaRPr lang="en-US" sz="1450" dirty="0"/>
          </a:p>
        </p:txBody>
      </p:sp>
      <p:sp>
        <p:nvSpPr>
          <p:cNvPr id="10" name="Text 8"/>
          <p:cNvSpPr/>
          <p:nvPr/>
        </p:nvSpPr>
        <p:spPr>
          <a:xfrm>
            <a:off x="859536" y="3749040"/>
            <a:ext cx="4718304" cy="548640"/>
          </a:xfrm>
          <a:prstGeom prst="rect">
            <a:avLst/>
          </a:prstGeom>
          <a:noFill/>
          <a:ln/>
        </p:spPr>
        <p:txBody>
          <a:bodyPr wrap="square" lIns="0" tIns="0" rIns="0" bIns="0" rtlCol="0" anchor="ctr"/>
          <a:lstStyle/>
          <a:p>
            <a:pPr indent="0" marL="0">
              <a:buNone/>
            </a:pPr>
            <a:r>
              <a:rPr lang="en-US" sz="1250" dirty="0">
                <a:solidFill>
                  <a:srgbClr val="565D67"/>
                </a:solidFill>
                <a:latin typeface="Calibri" pitchFamily="34" charset="0"/>
                <a:ea typeface="Calibri" pitchFamily="34" charset="-122"/>
                <a:cs typeface="Calibri" pitchFamily="34" charset="-120"/>
              </a:rPr>
              <a:t>Does reading the raw signal beat engineered features?</a:t>
            </a:r>
            <a:endParaRPr lang="en-US" sz="1250" dirty="0"/>
          </a:p>
        </p:txBody>
      </p:sp>
      <p:sp>
        <p:nvSpPr>
          <p:cNvPr id="11" name="Shape 9"/>
          <p:cNvSpPr/>
          <p:nvPr/>
        </p:nvSpPr>
        <p:spPr>
          <a:xfrm>
            <a:off x="6190488" y="3108960"/>
            <a:ext cx="5120640" cy="1325880"/>
          </a:xfrm>
          <a:prstGeom prst="roundRect">
            <a:avLst>
              <a:gd name="adj" fmla="val 4138"/>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12" name="Shape 10"/>
          <p:cNvSpPr/>
          <p:nvPr/>
        </p:nvSpPr>
        <p:spPr>
          <a:xfrm>
            <a:off x="6391656" y="3310128"/>
            <a:ext cx="749808" cy="310896"/>
          </a:xfrm>
          <a:prstGeom prst="roundRect">
            <a:avLst>
              <a:gd name="adj" fmla="val 20588"/>
            </a:avLst>
          </a:prstGeom>
          <a:solidFill>
            <a:srgbClr val="1F6F55"/>
          </a:solidFill>
          <a:ln w="12700">
            <a:solidFill>
              <a:srgbClr val="1F6F55"/>
            </a:solidFill>
            <a:prstDash val="solid"/>
          </a:ln>
        </p:spPr>
      </p:sp>
      <p:sp>
        <p:nvSpPr>
          <p:cNvPr id="13" name="Text 11"/>
          <p:cNvSpPr/>
          <p:nvPr/>
        </p:nvSpPr>
        <p:spPr>
          <a:xfrm>
            <a:off x="6391656" y="3310128"/>
            <a:ext cx="74980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RQ2</a:t>
            </a:r>
            <a:endParaRPr lang="en-US" sz="1050" dirty="0"/>
          </a:p>
        </p:txBody>
      </p:sp>
      <p:sp>
        <p:nvSpPr>
          <p:cNvPr id="14" name="Text 12"/>
          <p:cNvSpPr/>
          <p:nvPr/>
        </p:nvSpPr>
        <p:spPr>
          <a:xfrm>
            <a:off x="7251192" y="3310128"/>
            <a:ext cx="3840480" cy="310896"/>
          </a:xfrm>
          <a:prstGeom prst="rect">
            <a:avLst/>
          </a:prstGeom>
          <a:noFill/>
          <a:ln/>
        </p:spPr>
        <p:txBody>
          <a:bodyPr wrap="square" lIns="0" tIns="0" rIns="0" bIns="0" rtlCol="0" anchor="ctr"/>
          <a:lstStyle/>
          <a:p>
            <a:pPr indent="0" marL="0">
              <a:buNone/>
            </a:pPr>
            <a:r>
              <a:rPr lang="en-US" sz="1450" b="1" dirty="0">
                <a:solidFill>
                  <a:srgbClr val="141A21"/>
                </a:solidFill>
                <a:latin typeface="Cambria" pitchFamily="34" charset="0"/>
                <a:ea typeface="Cambria" pitchFamily="34" charset="-122"/>
                <a:cs typeface="Cambria" pitchFamily="34" charset="-120"/>
              </a:rPr>
              <a:t>Multi-task structure</a:t>
            </a:r>
            <a:endParaRPr lang="en-US" sz="1450" dirty="0"/>
          </a:p>
        </p:txBody>
      </p:sp>
      <p:sp>
        <p:nvSpPr>
          <p:cNvPr id="15" name="Text 13"/>
          <p:cNvSpPr/>
          <p:nvPr/>
        </p:nvSpPr>
        <p:spPr>
          <a:xfrm>
            <a:off x="6391656" y="3749040"/>
            <a:ext cx="4718304" cy="548640"/>
          </a:xfrm>
          <a:prstGeom prst="rect">
            <a:avLst/>
          </a:prstGeom>
          <a:noFill/>
          <a:ln/>
        </p:spPr>
        <p:txBody>
          <a:bodyPr wrap="square" lIns="0" tIns="0" rIns="0" bIns="0" rtlCol="0" anchor="ctr"/>
          <a:lstStyle/>
          <a:p>
            <a:pPr indent="0" marL="0">
              <a:buNone/>
            </a:pPr>
            <a:r>
              <a:rPr lang="en-US" sz="1250" dirty="0">
                <a:solidFill>
                  <a:srgbClr val="565D67"/>
                </a:solidFill>
                <a:latin typeface="Calibri" pitchFamily="34" charset="0"/>
                <a:ea typeface="Calibri" pitchFamily="34" charset="-122"/>
                <a:cs typeface="Calibri" pitchFamily="34" charset="-120"/>
              </a:rPr>
              <a:t>Is one shared model better than four separate ones?</a:t>
            </a:r>
            <a:endParaRPr lang="en-US" sz="1250" dirty="0"/>
          </a:p>
        </p:txBody>
      </p:sp>
      <p:sp>
        <p:nvSpPr>
          <p:cNvPr id="16" name="Shape 14"/>
          <p:cNvSpPr/>
          <p:nvPr/>
        </p:nvSpPr>
        <p:spPr>
          <a:xfrm>
            <a:off x="658368" y="4663440"/>
            <a:ext cx="5120640" cy="1325880"/>
          </a:xfrm>
          <a:prstGeom prst="roundRect">
            <a:avLst>
              <a:gd name="adj" fmla="val 4138"/>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17" name="Shape 15"/>
          <p:cNvSpPr/>
          <p:nvPr/>
        </p:nvSpPr>
        <p:spPr>
          <a:xfrm>
            <a:off x="859536" y="4864608"/>
            <a:ext cx="749808" cy="310896"/>
          </a:xfrm>
          <a:prstGeom prst="roundRect">
            <a:avLst>
              <a:gd name="adj" fmla="val 20588"/>
            </a:avLst>
          </a:prstGeom>
          <a:solidFill>
            <a:srgbClr val="AD6425"/>
          </a:solidFill>
          <a:ln w="12700">
            <a:solidFill>
              <a:srgbClr val="AD6425"/>
            </a:solidFill>
            <a:prstDash val="solid"/>
          </a:ln>
        </p:spPr>
      </p:sp>
      <p:sp>
        <p:nvSpPr>
          <p:cNvPr id="18" name="Text 16"/>
          <p:cNvSpPr/>
          <p:nvPr/>
        </p:nvSpPr>
        <p:spPr>
          <a:xfrm>
            <a:off x="859536" y="4864608"/>
            <a:ext cx="74980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RQ3a</a:t>
            </a:r>
            <a:endParaRPr lang="en-US" sz="1050" dirty="0"/>
          </a:p>
        </p:txBody>
      </p:sp>
      <p:sp>
        <p:nvSpPr>
          <p:cNvPr id="19" name="Text 17"/>
          <p:cNvSpPr/>
          <p:nvPr/>
        </p:nvSpPr>
        <p:spPr>
          <a:xfrm>
            <a:off x="1719072" y="4864608"/>
            <a:ext cx="3840480" cy="310896"/>
          </a:xfrm>
          <a:prstGeom prst="rect">
            <a:avLst/>
          </a:prstGeom>
          <a:noFill/>
          <a:ln/>
        </p:spPr>
        <p:txBody>
          <a:bodyPr wrap="square" lIns="0" tIns="0" rIns="0" bIns="0" rtlCol="0" anchor="ctr"/>
          <a:lstStyle/>
          <a:p>
            <a:pPr indent="0" marL="0">
              <a:buNone/>
            </a:pPr>
            <a:r>
              <a:rPr lang="en-US" sz="1450" b="1" dirty="0">
                <a:solidFill>
                  <a:srgbClr val="141A21"/>
                </a:solidFill>
                <a:latin typeface="Cambria" pitchFamily="34" charset="0"/>
                <a:ea typeface="Cambria" pitchFamily="34" charset="-122"/>
                <a:cs typeface="Cambria" pitchFamily="34" charset="-120"/>
              </a:rPr>
              <a:t>Calibrated uncertainty</a:t>
            </a:r>
            <a:endParaRPr lang="en-US" sz="1450" dirty="0"/>
          </a:p>
        </p:txBody>
      </p:sp>
      <p:sp>
        <p:nvSpPr>
          <p:cNvPr id="20" name="Text 18"/>
          <p:cNvSpPr/>
          <p:nvPr/>
        </p:nvSpPr>
        <p:spPr>
          <a:xfrm>
            <a:off x="859536" y="5303520"/>
            <a:ext cx="4718304" cy="548640"/>
          </a:xfrm>
          <a:prstGeom prst="rect">
            <a:avLst/>
          </a:prstGeom>
          <a:noFill/>
          <a:ln/>
        </p:spPr>
        <p:txBody>
          <a:bodyPr wrap="square" lIns="0" tIns="0" rIns="0" bIns="0" rtlCol="0" anchor="ctr"/>
          <a:lstStyle/>
          <a:p>
            <a:pPr indent="0" marL="0">
              <a:buNone/>
            </a:pPr>
            <a:r>
              <a:rPr lang="en-US" sz="1250" dirty="0">
                <a:solidFill>
                  <a:srgbClr val="565D67"/>
                </a:solidFill>
                <a:latin typeface="Calibri" pitchFamily="34" charset="0"/>
                <a:ea typeface="Calibri" pitchFamily="34" charset="-122"/>
                <a:cs typeface="Calibri" pitchFamily="34" charset="-120"/>
              </a:rPr>
              <a:t>Can the reported confidence be trusted?</a:t>
            </a:r>
            <a:endParaRPr lang="en-US" sz="1250" dirty="0"/>
          </a:p>
        </p:txBody>
      </p:sp>
      <p:sp>
        <p:nvSpPr>
          <p:cNvPr id="21" name="Shape 19"/>
          <p:cNvSpPr/>
          <p:nvPr/>
        </p:nvSpPr>
        <p:spPr>
          <a:xfrm>
            <a:off x="6190488" y="4663440"/>
            <a:ext cx="5120640" cy="1325880"/>
          </a:xfrm>
          <a:prstGeom prst="roundRect">
            <a:avLst>
              <a:gd name="adj" fmla="val 4138"/>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22" name="Shape 20"/>
          <p:cNvSpPr/>
          <p:nvPr/>
        </p:nvSpPr>
        <p:spPr>
          <a:xfrm>
            <a:off x="6391656" y="4864608"/>
            <a:ext cx="749808" cy="310896"/>
          </a:xfrm>
          <a:prstGeom prst="roundRect">
            <a:avLst>
              <a:gd name="adj" fmla="val 20588"/>
            </a:avLst>
          </a:prstGeom>
          <a:solidFill>
            <a:srgbClr val="57457A"/>
          </a:solidFill>
          <a:ln w="12700">
            <a:solidFill>
              <a:srgbClr val="57457A"/>
            </a:solidFill>
            <a:prstDash val="solid"/>
          </a:ln>
        </p:spPr>
      </p:sp>
      <p:sp>
        <p:nvSpPr>
          <p:cNvPr id="23" name="Text 21"/>
          <p:cNvSpPr/>
          <p:nvPr/>
        </p:nvSpPr>
        <p:spPr>
          <a:xfrm>
            <a:off x="6391656" y="4864608"/>
            <a:ext cx="74980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RQ3b</a:t>
            </a:r>
            <a:endParaRPr lang="en-US" sz="1050" dirty="0"/>
          </a:p>
        </p:txBody>
      </p:sp>
      <p:sp>
        <p:nvSpPr>
          <p:cNvPr id="24" name="Text 22"/>
          <p:cNvSpPr/>
          <p:nvPr/>
        </p:nvSpPr>
        <p:spPr>
          <a:xfrm>
            <a:off x="7251192" y="4864608"/>
            <a:ext cx="3840480" cy="310896"/>
          </a:xfrm>
          <a:prstGeom prst="rect">
            <a:avLst/>
          </a:prstGeom>
          <a:noFill/>
          <a:ln/>
        </p:spPr>
        <p:txBody>
          <a:bodyPr wrap="square" lIns="0" tIns="0" rIns="0" bIns="0" rtlCol="0" anchor="ctr"/>
          <a:lstStyle/>
          <a:p>
            <a:pPr indent="0" marL="0">
              <a:buNone/>
            </a:pPr>
            <a:r>
              <a:rPr lang="en-US" sz="1450" b="1" dirty="0">
                <a:solidFill>
                  <a:srgbClr val="141A21"/>
                </a:solidFill>
                <a:latin typeface="Cambria" pitchFamily="34" charset="0"/>
                <a:ea typeface="Cambria" pitchFamily="34" charset="-122"/>
                <a:cs typeface="Cambria" pitchFamily="34" charset="-120"/>
              </a:rPr>
              <a:t>Confidence-aware explanation</a:t>
            </a:r>
            <a:endParaRPr lang="en-US" sz="1450" dirty="0"/>
          </a:p>
        </p:txBody>
      </p:sp>
      <p:sp>
        <p:nvSpPr>
          <p:cNvPr id="25" name="Text 23"/>
          <p:cNvSpPr/>
          <p:nvPr/>
        </p:nvSpPr>
        <p:spPr>
          <a:xfrm>
            <a:off x="6391656" y="5303520"/>
            <a:ext cx="4718304" cy="548640"/>
          </a:xfrm>
          <a:prstGeom prst="rect">
            <a:avLst/>
          </a:prstGeom>
          <a:noFill/>
          <a:ln/>
        </p:spPr>
        <p:txBody>
          <a:bodyPr wrap="square" lIns="0" tIns="0" rIns="0" bIns="0" rtlCol="0" anchor="ctr"/>
          <a:lstStyle/>
          <a:p>
            <a:pPr indent="0" marL="0">
              <a:buNone/>
            </a:pPr>
            <a:r>
              <a:rPr lang="en-US" sz="1250" dirty="0">
                <a:solidFill>
                  <a:srgbClr val="565D67"/>
                </a:solidFill>
                <a:latin typeface="Calibri" pitchFamily="34" charset="0"/>
                <a:ea typeface="Calibri" pitchFamily="34" charset="-122"/>
                <a:cs typeface="Calibri" pitchFamily="34" charset="-120"/>
              </a:rPr>
              <a:t>Does the model explain itself differently when unsure?</a:t>
            </a:r>
            <a:endParaRPr lang="en-US" sz="1250" dirty="0"/>
          </a:p>
        </p:txBody>
      </p:sp>
      <p:sp>
        <p:nvSpPr>
          <p:cNvPr id="26" name="Text 24"/>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
        <p:nvSpPr>
          <p:cNvPr id="27" name="Text 25"/>
          <p:cNvSpPr/>
          <p:nvPr/>
        </p:nvSpPr>
        <p:spPr>
          <a:xfrm>
            <a:off x="10954512" y="6400800"/>
            <a:ext cx="548640" cy="256032"/>
          </a:xfrm>
          <a:prstGeom prst="rect">
            <a:avLst/>
          </a:prstGeom>
          <a:noFill/>
          <a:ln/>
        </p:spPr>
        <p:txBody>
          <a:bodyPr wrap="square" lIns="0" tIns="0" rIns="0" bIns="0" rtlCol="0" anchor="ctr"/>
          <a:lstStyle/>
          <a:p>
            <a:pPr algn="r" indent="0" marL="0">
              <a:buNone/>
            </a:pPr>
            <a:r>
              <a:rPr lang="en-US" sz="950" dirty="0">
                <a:solidFill>
                  <a:srgbClr val="8A9099"/>
                </a:solidFill>
                <a:latin typeface="Courier New" pitchFamily="34" charset="0"/>
                <a:ea typeface="Courier New" pitchFamily="34" charset="-122"/>
                <a:cs typeface="Courier New" pitchFamily="34" charset="-120"/>
              </a:rPr>
              <a:t>2</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347472"/>
            <a:ext cx="8229600" cy="237744"/>
          </a:xfrm>
          <a:prstGeom prst="rect">
            <a:avLst/>
          </a:prstGeom>
          <a:noFill/>
          <a:ln/>
        </p:spPr>
        <p:txBody>
          <a:bodyPr wrap="square" lIns="0" tIns="0" rIns="0" bIns="0" rtlCol="0" anchor="ctr"/>
          <a:lstStyle/>
          <a:p>
            <a:pPr indent="0" marL="0">
              <a:buNone/>
            </a:pPr>
            <a:r>
              <a:rPr lang="en-US" sz="1050" b="1" spc="200" kern="0" dirty="0">
                <a:solidFill>
                  <a:srgbClr val="1F5C8B"/>
                </a:solidFill>
                <a:latin typeface="Courier New" pitchFamily="34" charset="0"/>
                <a:ea typeface="Courier New" pitchFamily="34" charset="-122"/>
                <a:cs typeface="Courier New" pitchFamily="34" charset="-120"/>
              </a:rPr>
              <a:t>DATA</a:t>
            </a:r>
            <a:endParaRPr lang="en-US" sz="1050" dirty="0"/>
          </a:p>
        </p:txBody>
      </p:sp>
      <p:sp>
        <p:nvSpPr>
          <p:cNvPr id="3" name="Text 1"/>
          <p:cNvSpPr/>
          <p:nvPr/>
        </p:nvSpPr>
        <p:spPr>
          <a:xfrm>
            <a:off x="658368" y="676656"/>
            <a:ext cx="10844784" cy="548640"/>
          </a:xfrm>
          <a:prstGeom prst="rect">
            <a:avLst/>
          </a:prstGeom>
          <a:noFill/>
          <a:ln/>
        </p:spPr>
        <p:txBody>
          <a:bodyPr wrap="square" lIns="0" tIns="0" rIns="0" bIns="0" rtlCol="0" anchor="t"/>
          <a:lstStyle/>
          <a:p>
            <a:pPr indent="0" marL="0">
              <a:buNone/>
            </a:pPr>
            <a:r>
              <a:rPr lang="en-US" sz="3000" b="1" dirty="0">
                <a:solidFill>
                  <a:srgbClr val="141A21"/>
                </a:solidFill>
                <a:latin typeface="Cambria" pitchFamily="34" charset="0"/>
                <a:ea typeface="Cambria" pitchFamily="34" charset="-122"/>
                <a:cs typeface="Cambria" pitchFamily="34" charset="-120"/>
              </a:rPr>
              <a:t>The dataset, and one property that shaped the whole study</a:t>
            </a:r>
            <a:endParaRPr lang="en-US" sz="3000" dirty="0"/>
          </a:p>
        </p:txBody>
      </p:sp>
      <p:sp>
        <p:nvSpPr>
          <p:cNvPr id="4" name="Text 2"/>
          <p:cNvSpPr/>
          <p:nvPr/>
        </p:nvSpPr>
        <p:spPr>
          <a:xfrm>
            <a:off x="658368" y="1298448"/>
            <a:ext cx="10570464" cy="347472"/>
          </a:xfrm>
          <a:prstGeom prst="rect">
            <a:avLst/>
          </a:prstGeom>
          <a:noFill/>
          <a:ln/>
        </p:spPr>
        <p:txBody>
          <a:bodyPr wrap="square" lIns="0" tIns="0" rIns="0" bIns="0" rtlCol="0" anchor="ctr"/>
          <a:lstStyle/>
          <a:p>
            <a:pPr indent="0" marL="0">
              <a:buNone/>
            </a:pPr>
            <a:r>
              <a:rPr lang="en-US" sz="1400" dirty="0">
                <a:solidFill>
                  <a:srgbClr val="565D67"/>
                </a:solidFill>
                <a:latin typeface="Calibri" pitchFamily="34" charset="0"/>
                <a:ea typeface="Calibri" pitchFamily="34" charset="-122"/>
                <a:cs typeface="Calibri" pitchFamily="34" charset="-120"/>
              </a:rPr>
              <a:t>Žagar and Mihelič (2022), CC BY 4.0. Chosen because it publishes the raw trajectories, not just engineered features.</a:t>
            </a:r>
            <a:endParaRPr lang="en-US" sz="1400" dirty="0"/>
          </a:p>
        </p:txBody>
      </p:sp>
      <p:sp>
        <p:nvSpPr>
          <p:cNvPr id="5" name="Shape 3"/>
          <p:cNvSpPr/>
          <p:nvPr/>
        </p:nvSpPr>
        <p:spPr>
          <a:xfrm>
            <a:off x="658368" y="2057400"/>
            <a:ext cx="1280160" cy="914400"/>
          </a:xfrm>
          <a:prstGeom prst="roundRect">
            <a:avLst>
              <a:gd name="adj" fmla="val 6000"/>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6" name="Text 4"/>
          <p:cNvSpPr/>
          <p:nvPr/>
        </p:nvSpPr>
        <p:spPr>
          <a:xfrm>
            <a:off x="777240" y="2194560"/>
            <a:ext cx="1097280" cy="384048"/>
          </a:xfrm>
          <a:prstGeom prst="rect">
            <a:avLst/>
          </a:prstGeom>
          <a:noFill/>
          <a:ln/>
        </p:spPr>
        <p:txBody>
          <a:bodyPr wrap="square" lIns="0" tIns="0" rIns="0" bIns="0" rtlCol="0" anchor="ctr"/>
          <a:lstStyle/>
          <a:p>
            <a:pPr indent="0" marL="0">
              <a:buNone/>
            </a:pPr>
            <a:r>
              <a:rPr lang="en-US" sz="1700" b="1" dirty="0">
                <a:solidFill>
                  <a:srgbClr val="1F5C8B"/>
                </a:solidFill>
                <a:latin typeface="Cambria" pitchFamily="34" charset="0"/>
                <a:ea typeface="Cambria" pitchFamily="34" charset="-122"/>
                <a:cs typeface="Cambria" pitchFamily="34" charset="-120"/>
              </a:rPr>
              <a:t>1,005</a:t>
            </a:r>
            <a:endParaRPr lang="en-US" sz="1700" dirty="0"/>
          </a:p>
        </p:txBody>
      </p:sp>
      <p:sp>
        <p:nvSpPr>
          <p:cNvPr id="7" name="Text 5"/>
          <p:cNvSpPr/>
          <p:nvPr/>
        </p:nvSpPr>
        <p:spPr>
          <a:xfrm>
            <a:off x="777240" y="2596896"/>
            <a:ext cx="1097280" cy="274320"/>
          </a:xfrm>
          <a:prstGeom prst="rect">
            <a:avLst/>
          </a:prstGeom>
          <a:noFill/>
          <a:ln/>
        </p:spPr>
        <p:txBody>
          <a:bodyPr wrap="square" lIns="0" tIns="0" rIns="0" bIns="0" rtlCol="0" anchor="ctr"/>
          <a:lstStyle/>
          <a:p>
            <a:pPr indent="0" marL="0">
              <a:buNone/>
            </a:pPr>
            <a:r>
              <a:rPr lang="en-US" sz="900" dirty="0">
                <a:solidFill>
                  <a:srgbClr val="565D67"/>
                </a:solidFill>
                <a:latin typeface="Calibri" pitchFamily="34" charset="0"/>
                <a:ea typeface="Calibri" pitchFamily="34" charset="-122"/>
                <a:cs typeface="Calibri" pitchFamily="34" charset="-120"/>
              </a:rPr>
              <a:t>batches</a:t>
            </a:r>
            <a:endParaRPr lang="en-US" sz="900" dirty="0"/>
          </a:p>
        </p:txBody>
      </p:sp>
      <p:sp>
        <p:nvSpPr>
          <p:cNvPr id="8" name="Shape 6"/>
          <p:cNvSpPr/>
          <p:nvPr/>
        </p:nvSpPr>
        <p:spPr>
          <a:xfrm>
            <a:off x="2075688" y="2057400"/>
            <a:ext cx="1280160" cy="914400"/>
          </a:xfrm>
          <a:prstGeom prst="roundRect">
            <a:avLst>
              <a:gd name="adj" fmla="val 6000"/>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9" name="Text 7"/>
          <p:cNvSpPr/>
          <p:nvPr/>
        </p:nvSpPr>
        <p:spPr>
          <a:xfrm>
            <a:off x="2194560" y="2194560"/>
            <a:ext cx="1097280" cy="384048"/>
          </a:xfrm>
          <a:prstGeom prst="rect">
            <a:avLst/>
          </a:prstGeom>
          <a:noFill/>
          <a:ln/>
        </p:spPr>
        <p:txBody>
          <a:bodyPr wrap="square" lIns="0" tIns="0" rIns="0" bIns="0" rtlCol="0" anchor="ctr"/>
          <a:lstStyle/>
          <a:p>
            <a:pPr indent="0" marL="0">
              <a:buNone/>
            </a:pPr>
            <a:r>
              <a:rPr lang="en-US" sz="1700" b="1" dirty="0">
                <a:solidFill>
                  <a:srgbClr val="1F5C8B"/>
                </a:solidFill>
                <a:latin typeface="Cambria" pitchFamily="34" charset="0"/>
                <a:ea typeface="Cambria" pitchFamily="34" charset="-122"/>
                <a:cs typeface="Cambria" pitchFamily="34" charset="-120"/>
              </a:rPr>
              <a:t>25</a:t>
            </a:r>
            <a:endParaRPr lang="en-US" sz="1700" dirty="0"/>
          </a:p>
        </p:txBody>
      </p:sp>
      <p:sp>
        <p:nvSpPr>
          <p:cNvPr id="10" name="Text 8"/>
          <p:cNvSpPr/>
          <p:nvPr/>
        </p:nvSpPr>
        <p:spPr>
          <a:xfrm>
            <a:off x="2194560" y="2596896"/>
            <a:ext cx="1097280" cy="274320"/>
          </a:xfrm>
          <a:prstGeom prst="rect">
            <a:avLst/>
          </a:prstGeom>
          <a:noFill/>
          <a:ln/>
        </p:spPr>
        <p:txBody>
          <a:bodyPr wrap="square" lIns="0" tIns="0" rIns="0" bIns="0" rtlCol="0" anchor="ctr"/>
          <a:lstStyle/>
          <a:p>
            <a:pPr indent="0" marL="0">
              <a:buNone/>
            </a:pPr>
            <a:r>
              <a:rPr lang="en-US" sz="900" dirty="0">
                <a:solidFill>
                  <a:srgbClr val="565D67"/>
                </a:solidFill>
                <a:latin typeface="Calibri" pitchFamily="34" charset="0"/>
                <a:ea typeface="Calibri" pitchFamily="34" charset="-122"/>
                <a:cs typeface="Calibri" pitchFamily="34" charset="-120"/>
              </a:rPr>
              <a:t>product codes</a:t>
            </a:r>
            <a:endParaRPr lang="en-US" sz="900" dirty="0"/>
          </a:p>
        </p:txBody>
      </p:sp>
      <p:sp>
        <p:nvSpPr>
          <p:cNvPr id="11" name="Shape 9"/>
          <p:cNvSpPr/>
          <p:nvPr/>
        </p:nvSpPr>
        <p:spPr>
          <a:xfrm>
            <a:off x="3493008" y="2057400"/>
            <a:ext cx="1280160" cy="914400"/>
          </a:xfrm>
          <a:prstGeom prst="roundRect">
            <a:avLst>
              <a:gd name="adj" fmla="val 6000"/>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12" name="Text 10"/>
          <p:cNvSpPr/>
          <p:nvPr/>
        </p:nvSpPr>
        <p:spPr>
          <a:xfrm>
            <a:off x="3611880" y="2194560"/>
            <a:ext cx="1097280" cy="384048"/>
          </a:xfrm>
          <a:prstGeom prst="rect">
            <a:avLst/>
          </a:prstGeom>
          <a:noFill/>
          <a:ln/>
        </p:spPr>
        <p:txBody>
          <a:bodyPr wrap="square" lIns="0" tIns="0" rIns="0" bIns="0" rtlCol="0" anchor="ctr"/>
          <a:lstStyle/>
          <a:p>
            <a:pPr indent="0" marL="0">
              <a:buNone/>
            </a:pPr>
            <a:r>
              <a:rPr lang="en-US" sz="1700" b="1" dirty="0">
                <a:solidFill>
                  <a:srgbClr val="1F6F55"/>
                </a:solidFill>
                <a:latin typeface="Cambria" pitchFamily="34" charset="0"/>
                <a:ea typeface="Cambria" pitchFamily="34" charset="-122"/>
                <a:cs typeface="Cambria" pitchFamily="34" charset="-120"/>
              </a:rPr>
              <a:t>10</a:t>
            </a:r>
            <a:endParaRPr lang="en-US" sz="1700" dirty="0"/>
          </a:p>
        </p:txBody>
      </p:sp>
      <p:sp>
        <p:nvSpPr>
          <p:cNvPr id="13" name="Text 11"/>
          <p:cNvSpPr/>
          <p:nvPr/>
        </p:nvSpPr>
        <p:spPr>
          <a:xfrm>
            <a:off x="3611880" y="2596896"/>
            <a:ext cx="1097280" cy="274320"/>
          </a:xfrm>
          <a:prstGeom prst="rect">
            <a:avLst/>
          </a:prstGeom>
          <a:noFill/>
          <a:ln/>
        </p:spPr>
        <p:txBody>
          <a:bodyPr wrap="square" lIns="0" tIns="0" rIns="0" bIns="0" rtlCol="0" anchor="ctr"/>
          <a:lstStyle/>
          <a:p>
            <a:pPr indent="0" marL="0">
              <a:buNone/>
            </a:pPr>
            <a:r>
              <a:rPr lang="en-US" sz="900" dirty="0">
                <a:solidFill>
                  <a:srgbClr val="565D67"/>
                </a:solidFill>
                <a:latin typeface="Calibri" pitchFamily="34" charset="0"/>
                <a:ea typeface="Calibri" pitchFamily="34" charset="-122"/>
                <a:cs typeface="Calibri" pitchFamily="34" charset="-120"/>
              </a:rPr>
              <a:t>channels</a:t>
            </a:r>
            <a:endParaRPr lang="en-US" sz="900" dirty="0"/>
          </a:p>
        </p:txBody>
      </p:sp>
      <p:sp>
        <p:nvSpPr>
          <p:cNvPr id="14" name="Shape 12"/>
          <p:cNvSpPr/>
          <p:nvPr/>
        </p:nvSpPr>
        <p:spPr>
          <a:xfrm>
            <a:off x="4910328" y="2057400"/>
            <a:ext cx="1280160" cy="914400"/>
          </a:xfrm>
          <a:prstGeom prst="roundRect">
            <a:avLst>
              <a:gd name="adj" fmla="val 6000"/>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15" name="Text 13"/>
          <p:cNvSpPr/>
          <p:nvPr/>
        </p:nvSpPr>
        <p:spPr>
          <a:xfrm>
            <a:off x="5029200" y="2194560"/>
            <a:ext cx="1097280" cy="384048"/>
          </a:xfrm>
          <a:prstGeom prst="rect">
            <a:avLst/>
          </a:prstGeom>
          <a:noFill/>
          <a:ln/>
        </p:spPr>
        <p:txBody>
          <a:bodyPr wrap="square" lIns="0" tIns="0" rIns="0" bIns="0" rtlCol="0" anchor="ctr"/>
          <a:lstStyle/>
          <a:p>
            <a:pPr indent="0" marL="0">
              <a:buNone/>
            </a:pPr>
            <a:r>
              <a:rPr lang="en-US" sz="1700" b="1" dirty="0">
                <a:solidFill>
                  <a:srgbClr val="1F6F55"/>
                </a:solidFill>
                <a:latin typeface="Cambria" pitchFamily="34" charset="0"/>
                <a:ea typeface="Cambria" pitchFamily="34" charset="-122"/>
                <a:cs typeface="Cambria" pitchFamily="34" charset="-120"/>
              </a:rPr>
              <a:t>4.72M</a:t>
            </a:r>
            <a:endParaRPr lang="en-US" sz="1700" dirty="0"/>
          </a:p>
        </p:txBody>
      </p:sp>
      <p:sp>
        <p:nvSpPr>
          <p:cNvPr id="16" name="Text 14"/>
          <p:cNvSpPr/>
          <p:nvPr/>
        </p:nvSpPr>
        <p:spPr>
          <a:xfrm>
            <a:off x="5029200" y="2596896"/>
            <a:ext cx="1097280" cy="274320"/>
          </a:xfrm>
          <a:prstGeom prst="rect">
            <a:avLst/>
          </a:prstGeom>
          <a:noFill/>
          <a:ln/>
        </p:spPr>
        <p:txBody>
          <a:bodyPr wrap="square" lIns="0" tIns="0" rIns="0" bIns="0" rtlCol="0" anchor="ctr"/>
          <a:lstStyle/>
          <a:p>
            <a:pPr indent="0" marL="0">
              <a:buNone/>
            </a:pPr>
            <a:r>
              <a:rPr lang="en-US" sz="900" dirty="0">
                <a:solidFill>
                  <a:srgbClr val="565D67"/>
                </a:solidFill>
                <a:latin typeface="Calibri" pitchFamily="34" charset="0"/>
                <a:ea typeface="Calibri" pitchFamily="34" charset="-122"/>
                <a:cs typeface="Calibri" pitchFamily="34" charset="-120"/>
              </a:rPr>
              <a:t>readings</a:t>
            </a:r>
            <a:endParaRPr lang="en-US" sz="900" dirty="0"/>
          </a:p>
        </p:txBody>
      </p:sp>
      <p:pic>
        <p:nvPicPr>
          <p:cNvPr id="17" name="Image 0" descr="img/fig2_batches.png">    </p:cNvPr>
          <p:cNvPicPr>
            <a:picLocks noChangeAspect="1"/>
          </p:cNvPicPr>
          <p:nvPr/>
        </p:nvPicPr>
        <p:blipFill>
          <a:blip r:embed="rId1"/>
          <a:stretch>
            <a:fillRect/>
          </a:stretch>
        </p:blipFill>
        <p:spPr>
          <a:xfrm>
            <a:off x="658368" y="3154680"/>
            <a:ext cx="5669280" cy="2743200"/>
          </a:xfrm>
          <a:prstGeom prst="rect">
            <a:avLst/>
          </a:prstGeom>
        </p:spPr>
      </p:pic>
      <p:sp>
        <p:nvSpPr>
          <p:cNvPr id="18" name="Shape 15"/>
          <p:cNvSpPr/>
          <p:nvPr/>
        </p:nvSpPr>
        <p:spPr>
          <a:xfrm>
            <a:off x="6537960" y="2057400"/>
            <a:ext cx="4983480" cy="3886200"/>
          </a:xfrm>
          <a:prstGeom prst="roundRect">
            <a:avLst>
              <a:gd name="adj" fmla="val 1412"/>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19" name="Text 16"/>
          <p:cNvSpPr/>
          <p:nvPr/>
        </p:nvSpPr>
        <p:spPr>
          <a:xfrm>
            <a:off x="6812280" y="2267712"/>
            <a:ext cx="4480560" cy="219456"/>
          </a:xfrm>
          <a:prstGeom prst="rect">
            <a:avLst/>
          </a:prstGeom>
          <a:noFill/>
          <a:ln/>
        </p:spPr>
        <p:txBody>
          <a:bodyPr wrap="square" lIns="0" tIns="0" rIns="0" bIns="0" rtlCol="0" anchor="ctr"/>
          <a:lstStyle/>
          <a:p>
            <a:pPr indent="0" marL="0">
              <a:buNone/>
            </a:pPr>
            <a:r>
              <a:rPr lang="en-US" sz="850" spc="120" kern="0" dirty="0">
                <a:solidFill>
                  <a:srgbClr val="8A9099"/>
                </a:solidFill>
                <a:latin typeface="Courier New" pitchFamily="34" charset="0"/>
                <a:ea typeface="Courier New" pitchFamily="34" charset="-122"/>
                <a:cs typeface="Courier New" pitchFamily="34" charset="-120"/>
              </a:rPr>
              <a:t>THE DISCOVERY</a:t>
            </a:r>
            <a:endParaRPr lang="en-US" sz="850" dirty="0"/>
          </a:p>
        </p:txBody>
      </p:sp>
      <p:sp>
        <p:nvSpPr>
          <p:cNvPr id="20" name="Text 17"/>
          <p:cNvSpPr/>
          <p:nvPr/>
        </p:nvSpPr>
        <p:spPr>
          <a:xfrm>
            <a:off x="6812280" y="2560320"/>
            <a:ext cx="4480560" cy="310896"/>
          </a:xfrm>
          <a:prstGeom prst="rect">
            <a:avLst/>
          </a:prstGeom>
          <a:noFill/>
          <a:ln/>
        </p:spPr>
        <p:txBody>
          <a:bodyPr wrap="square" lIns="0" tIns="0" rIns="0" bIns="0" rtlCol="0" anchor="ctr"/>
          <a:lstStyle/>
          <a:p>
            <a:pPr indent="0" marL="0">
              <a:buNone/>
            </a:pPr>
            <a:r>
              <a:rPr lang="en-US" sz="1600" b="1" dirty="0">
                <a:solidFill>
                  <a:srgbClr val="141A21"/>
                </a:solidFill>
                <a:latin typeface="Cambria" pitchFamily="34" charset="0"/>
                <a:ea typeface="Cambria" pitchFamily="34" charset="-122"/>
                <a:cs typeface="Cambria" pitchFamily="34" charset="-120"/>
              </a:rPr>
              <a:t>Hardness is bimodal</a:t>
            </a:r>
            <a:endParaRPr lang="en-US" sz="1600" dirty="0"/>
          </a:p>
        </p:txBody>
      </p:sp>
      <p:sp>
        <p:nvSpPr>
          <p:cNvPr id="21" name="Text 18"/>
          <p:cNvSpPr/>
          <p:nvPr/>
        </p:nvSpPr>
        <p:spPr>
          <a:xfrm>
            <a:off x="6812280" y="2999232"/>
            <a:ext cx="868680" cy="365760"/>
          </a:xfrm>
          <a:prstGeom prst="rect">
            <a:avLst/>
          </a:prstGeom>
          <a:noFill/>
          <a:ln/>
        </p:spPr>
        <p:txBody>
          <a:bodyPr wrap="square" lIns="0" tIns="0" rIns="0" bIns="0" rtlCol="0" anchor="ctr"/>
          <a:lstStyle/>
          <a:p>
            <a:pPr indent="0" marL="0">
              <a:buNone/>
            </a:pPr>
            <a:r>
              <a:rPr lang="en-US" sz="1900" b="1" dirty="0">
                <a:solidFill>
                  <a:srgbClr val="AD6425"/>
                </a:solidFill>
                <a:latin typeface="Cambria" pitchFamily="34" charset="0"/>
                <a:ea typeface="Cambria" pitchFamily="34" charset="-122"/>
                <a:cs typeface="Cambria" pitchFamily="34" charset="-120"/>
              </a:rPr>
              <a:t>98</a:t>
            </a:r>
            <a:endParaRPr lang="en-US" sz="1900" dirty="0"/>
          </a:p>
        </p:txBody>
      </p:sp>
      <p:sp>
        <p:nvSpPr>
          <p:cNvPr id="22" name="Text 19"/>
          <p:cNvSpPr/>
          <p:nvPr/>
        </p:nvSpPr>
        <p:spPr>
          <a:xfrm>
            <a:off x="7726680" y="3072384"/>
            <a:ext cx="3566160" cy="310896"/>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batches sit above 70 N</a:t>
            </a:r>
            <a:endParaRPr lang="en-US" sz="1150" dirty="0"/>
          </a:p>
        </p:txBody>
      </p:sp>
      <p:sp>
        <p:nvSpPr>
          <p:cNvPr id="23" name="Text 20"/>
          <p:cNvSpPr/>
          <p:nvPr/>
        </p:nvSpPr>
        <p:spPr>
          <a:xfrm>
            <a:off x="6812280" y="3566160"/>
            <a:ext cx="868680" cy="365760"/>
          </a:xfrm>
          <a:prstGeom prst="rect">
            <a:avLst/>
          </a:prstGeom>
          <a:noFill/>
          <a:ln/>
        </p:spPr>
        <p:txBody>
          <a:bodyPr wrap="square" lIns="0" tIns="0" rIns="0" bIns="0" rtlCol="0" anchor="ctr"/>
          <a:lstStyle/>
          <a:p>
            <a:pPr indent="0" marL="0">
              <a:buNone/>
            </a:pPr>
            <a:r>
              <a:rPr lang="en-US" sz="1900" b="1" dirty="0">
                <a:solidFill>
                  <a:srgbClr val="AD6425"/>
                </a:solidFill>
                <a:latin typeface="Cambria" pitchFamily="34" charset="0"/>
                <a:ea typeface="Cambria" pitchFamily="34" charset="-122"/>
                <a:cs typeface="Cambria" pitchFamily="34" charset="-120"/>
              </a:rPr>
              <a:t>5</a:t>
            </a:r>
            <a:endParaRPr lang="en-US" sz="1900" dirty="0"/>
          </a:p>
        </p:txBody>
      </p:sp>
      <p:sp>
        <p:nvSpPr>
          <p:cNvPr id="24" name="Text 21"/>
          <p:cNvSpPr/>
          <p:nvPr/>
        </p:nvSpPr>
        <p:spPr>
          <a:xfrm>
            <a:off x="7726680" y="3639312"/>
            <a:ext cx="3566160" cy="310896"/>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product codes hold all of them</a:t>
            </a:r>
            <a:endParaRPr lang="en-US" sz="1150" dirty="0"/>
          </a:p>
        </p:txBody>
      </p:sp>
      <p:sp>
        <p:nvSpPr>
          <p:cNvPr id="25" name="Text 22"/>
          <p:cNvSpPr/>
          <p:nvPr/>
        </p:nvSpPr>
        <p:spPr>
          <a:xfrm>
            <a:off x="6812280" y="4133088"/>
            <a:ext cx="868680" cy="365760"/>
          </a:xfrm>
          <a:prstGeom prst="rect">
            <a:avLst/>
          </a:prstGeom>
          <a:noFill/>
          <a:ln/>
        </p:spPr>
        <p:txBody>
          <a:bodyPr wrap="square" lIns="0" tIns="0" rIns="0" bIns="0" rtlCol="0" anchor="ctr"/>
          <a:lstStyle/>
          <a:p>
            <a:pPr indent="0" marL="0">
              <a:buNone/>
            </a:pPr>
            <a:r>
              <a:rPr lang="en-US" sz="1900" b="1" dirty="0">
                <a:solidFill>
                  <a:srgbClr val="AD6425"/>
                </a:solidFill>
                <a:latin typeface="Cambria" pitchFamily="34" charset="0"/>
                <a:ea typeface="Cambria" pitchFamily="34" charset="-122"/>
                <a:cs typeface="Cambria" pitchFamily="34" charset="-120"/>
              </a:rPr>
              <a:t>64</a:t>
            </a:r>
            <a:endParaRPr lang="en-US" sz="1900" dirty="0"/>
          </a:p>
        </p:txBody>
      </p:sp>
      <p:sp>
        <p:nvSpPr>
          <p:cNvPr id="26" name="Text 23"/>
          <p:cNvSpPr/>
          <p:nvPr/>
        </p:nvSpPr>
        <p:spPr>
          <a:xfrm>
            <a:off x="7726680" y="4206240"/>
            <a:ext cx="3566160" cy="310896"/>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of those 98 are a single code</a:t>
            </a:r>
            <a:endParaRPr lang="en-US" sz="1150" dirty="0"/>
          </a:p>
        </p:txBody>
      </p:sp>
      <p:sp>
        <p:nvSpPr>
          <p:cNvPr id="27" name="Text 24"/>
          <p:cNvSpPr/>
          <p:nvPr/>
        </p:nvSpPr>
        <p:spPr>
          <a:xfrm>
            <a:off x="6812280" y="4700016"/>
            <a:ext cx="868680" cy="365760"/>
          </a:xfrm>
          <a:prstGeom prst="rect">
            <a:avLst/>
          </a:prstGeom>
          <a:noFill/>
          <a:ln/>
        </p:spPr>
        <p:txBody>
          <a:bodyPr wrap="square" lIns="0" tIns="0" rIns="0" bIns="0" rtlCol="0" anchor="ctr"/>
          <a:lstStyle/>
          <a:p>
            <a:pPr indent="0" marL="0">
              <a:buNone/>
            </a:pPr>
            <a:r>
              <a:rPr lang="en-US" sz="1900" b="1" dirty="0">
                <a:solidFill>
                  <a:srgbClr val="1F6F55"/>
                </a:solidFill>
                <a:latin typeface="Cambria" pitchFamily="34" charset="0"/>
                <a:ea typeface="Cambria" pitchFamily="34" charset="-122"/>
                <a:cs typeface="Cambria" pitchFamily="34" charset="-120"/>
              </a:rPr>
              <a:t>34</a:t>
            </a:r>
            <a:endParaRPr lang="en-US" sz="1900" dirty="0"/>
          </a:p>
        </p:txBody>
      </p:sp>
      <p:sp>
        <p:nvSpPr>
          <p:cNvPr id="28" name="Text 25"/>
          <p:cNvSpPr/>
          <p:nvPr/>
        </p:nvSpPr>
        <p:spPr>
          <a:xfrm>
            <a:off x="7726680" y="4773168"/>
            <a:ext cx="3566160" cy="310896"/>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remain for training after holdout</a:t>
            </a:r>
            <a:endParaRPr lang="en-US" sz="1150" dirty="0"/>
          </a:p>
        </p:txBody>
      </p:sp>
      <p:sp>
        <p:nvSpPr>
          <p:cNvPr id="29" name="Text 26"/>
          <p:cNvSpPr/>
          <p:nvPr/>
        </p:nvSpPr>
        <p:spPr>
          <a:xfrm>
            <a:off x="6812280" y="5376672"/>
            <a:ext cx="4480560" cy="457200"/>
          </a:xfrm>
          <a:prstGeom prst="rect">
            <a:avLst/>
          </a:prstGeom>
          <a:noFill/>
          <a:ln/>
        </p:spPr>
        <p:txBody>
          <a:bodyPr wrap="square" lIns="0" tIns="0" rIns="0" bIns="0" rtlCol="0" anchor="ctr"/>
          <a:lstStyle/>
          <a:p>
            <a:pPr indent="0" marL="0">
              <a:buNone/>
            </a:pPr>
            <a:r>
              <a:rPr lang="en-US" sz="1100" i="1" dirty="0">
                <a:solidFill>
                  <a:srgbClr val="1F5C8B"/>
                </a:solidFill>
                <a:latin typeface="Calibri" pitchFamily="34" charset="0"/>
                <a:ea typeface="Calibri" pitchFamily="34" charset="-122"/>
                <a:cs typeface="Calibri" pitchFamily="34" charset="-120"/>
              </a:rPr>
              <a:t>Because evaluation groups whole product codes to stop leakage, this concentration decides how the folds can be built at all.</a:t>
            </a:r>
            <a:endParaRPr lang="en-US" sz="1100" dirty="0"/>
          </a:p>
        </p:txBody>
      </p:sp>
      <p:sp>
        <p:nvSpPr>
          <p:cNvPr id="30" name="Text 27"/>
          <p:cNvSpPr/>
          <p:nvPr/>
        </p:nvSpPr>
        <p:spPr>
          <a:xfrm>
            <a:off x="658368" y="6053328"/>
            <a:ext cx="10881360" cy="274320"/>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Preprocessing: stride-2 downsampling, padded to 6,000 steps, standardised on training folds only.</a:t>
            </a:r>
            <a:endParaRPr lang="en-US" sz="1100" dirty="0"/>
          </a:p>
        </p:txBody>
      </p:sp>
      <p:sp>
        <p:nvSpPr>
          <p:cNvPr id="31" name="Text 28"/>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
        <p:nvSpPr>
          <p:cNvPr id="32" name="Text 29"/>
          <p:cNvSpPr/>
          <p:nvPr/>
        </p:nvSpPr>
        <p:spPr>
          <a:xfrm>
            <a:off x="10954512" y="6400800"/>
            <a:ext cx="548640" cy="256032"/>
          </a:xfrm>
          <a:prstGeom prst="rect">
            <a:avLst/>
          </a:prstGeom>
          <a:noFill/>
          <a:ln/>
        </p:spPr>
        <p:txBody>
          <a:bodyPr wrap="square" lIns="0" tIns="0" rIns="0" bIns="0" rtlCol="0" anchor="ctr"/>
          <a:lstStyle/>
          <a:p>
            <a:pPr algn="r" indent="0" marL="0">
              <a:buNone/>
            </a:pPr>
            <a:r>
              <a:rPr lang="en-US" sz="950" dirty="0">
                <a:solidFill>
                  <a:srgbClr val="8A9099"/>
                </a:solidFill>
                <a:latin typeface="Courier New" pitchFamily="34" charset="0"/>
                <a:ea typeface="Courier New" pitchFamily="34" charset="-122"/>
                <a:cs typeface="Courier New" pitchFamily="34" charset="-120"/>
              </a:rPr>
              <a:t>3</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347472"/>
            <a:ext cx="8229600" cy="237744"/>
          </a:xfrm>
          <a:prstGeom prst="rect">
            <a:avLst/>
          </a:prstGeom>
          <a:noFill/>
          <a:ln/>
        </p:spPr>
        <p:txBody>
          <a:bodyPr wrap="square" lIns="0" tIns="0" rIns="0" bIns="0" rtlCol="0" anchor="ctr"/>
          <a:lstStyle/>
          <a:p>
            <a:pPr indent="0" marL="0">
              <a:buNone/>
            </a:pPr>
            <a:r>
              <a:rPr lang="en-US" sz="1050" b="1" spc="200" kern="0" dirty="0">
                <a:solidFill>
                  <a:srgbClr val="1F5C8B"/>
                </a:solidFill>
                <a:latin typeface="Courier New" pitchFamily="34" charset="0"/>
                <a:ea typeface="Courier New" pitchFamily="34" charset="-122"/>
                <a:cs typeface="Courier New" pitchFamily="34" charset="-120"/>
              </a:rPr>
              <a:t>METHODOLOGY</a:t>
            </a:r>
            <a:endParaRPr lang="en-US" sz="1050" dirty="0"/>
          </a:p>
        </p:txBody>
      </p:sp>
      <p:sp>
        <p:nvSpPr>
          <p:cNvPr id="3" name="Text 1"/>
          <p:cNvSpPr/>
          <p:nvPr/>
        </p:nvSpPr>
        <p:spPr>
          <a:xfrm>
            <a:off x="658368" y="676656"/>
            <a:ext cx="10844784" cy="548640"/>
          </a:xfrm>
          <a:prstGeom prst="rect">
            <a:avLst/>
          </a:prstGeom>
          <a:noFill/>
          <a:ln/>
        </p:spPr>
        <p:txBody>
          <a:bodyPr wrap="square" lIns="0" tIns="0" rIns="0" bIns="0" rtlCol="0" anchor="t"/>
          <a:lstStyle/>
          <a:p>
            <a:pPr indent="0" marL="0">
              <a:buNone/>
            </a:pPr>
            <a:r>
              <a:rPr lang="en-US" sz="3000" b="1" dirty="0">
                <a:solidFill>
                  <a:srgbClr val="141A21"/>
                </a:solidFill>
                <a:latin typeface="Cambria" pitchFamily="34" charset="0"/>
                <a:ea typeface="Cambria" pitchFamily="34" charset="-122"/>
                <a:cs typeface="Cambria" pitchFamily="34" charset="-120"/>
              </a:rPr>
              <a:t>The full research pipeline</a:t>
            </a:r>
            <a:endParaRPr lang="en-US" sz="3000" dirty="0"/>
          </a:p>
        </p:txBody>
      </p:sp>
      <p:sp>
        <p:nvSpPr>
          <p:cNvPr id="4" name="Text 2"/>
          <p:cNvSpPr/>
          <p:nvPr/>
        </p:nvSpPr>
        <p:spPr>
          <a:xfrm>
            <a:off x="658368" y="1298448"/>
            <a:ext cx="10570464" cy="347472"/>
          </a:xfrm>
          <a:prstGeom prst="rect">
            <a:avLst/>
          </a:prstGeom>
          <a:noFill/>
          <a:ln/>
        </p:spPr>
        <p:txBody>
          <a:bodyPr wrap="square" lIns="0" tIns="0" rIns="0" bIns="0" rtlCol="0" anchor="ctr"/>
          <a:lstStyle/>
          <a:p>
            <a:pPr indent="0" marL="0">
              <a:buNone/>
            </a:pPr>
            <a:r>
              <a:rPr lang="en-US" sz="1400" dirty="0">
                <a:solidFill>
                  <a:srgbClr val="565D67"/>
                </a:solidFill>
                <a:latin typeface="Calibri" pitchFamily="34" charset="0"/>
                <a:ea typeface="Calibri" pitchFamily="34" charset="-122"/>
                <a:cs typeface="Calibri" pitchFamily="34" charset="-120"/>
              </a:rPr>
              <a:t>From the raw sensor files through to the four evaluation experiments.</a:t>
            </a:r>
            <a:endParaRPr lang="en-US" sz="1400" dirty="0"/>
          </a:p>
        </p:txBody>
      </p:sp>
      <p:pic>
        <p:nvPicPr>
          <p:cNvPr id="5" name="Image 0" descr="img/fig_methodology.png">    </p:cNvPr>
          <p:cNvPicPr>
            <a:picLocks noChangeAspect="1"/>
          </p:cNvPicPr>
          <p:nvPr/>
        </p:nvPicPr>
        <p:blipFill>
          <a:blip r:embed="rId1"/>
          <a:stretch>
            <a:fillRect/>
          </a:stretch>
        </p:blipFill>
        <p:spPr>
          <a:xfrm>
            <a:off x="457200" y="1965960"/>
            <a:ext cx="11247120" cy="3547872"/>
          </a:xfrm>
          <a:prstGeom prst="rect">
            <a:avLst/>
          </a:prstGeom>
        </p:spPr>
      </p:pic>
      <p:sp>
        <p:nvSpPr>
          <p:cNvPr id="6" name="Text 3"/>
          <p:cNvSpPr/>
          <p:nvPr/>
        </p:nvSpPr>
        <p:spPr>
          <a:xfrm>
            <a:off x="658368" y="5687568"/>
            <a:ext cx="10881360" cy="411480"/>
          </a:xfrm>
          <a:prstGeom prst="rect">
            <a:avLst/>
          </a:prstGeom>
          <a:noFill/>
          <a:ln/>
        </p:spPr>
        <p:txBody>
          <a:bodyPr wrap="square" lIns="0" tIns="0" rIns="0" bIns="0" rtlCol="0" anchor="ctr"/>
          <a:lstStyle/>
          <a:p>
            <a:pPr indent="0" marL="0">
              <a:buNone/>
            </a:pPr>
            <a:r>
              <a:rPr lang="en-US" sz="1200" dirty="0">
                <a:solidFill>
                  <a:srgbClr val="565D67"/>
                </a:solidFill>
                <a:latin typeface="Calibri" pitchFamily="34" charset="0"/>
                <a:ea typeface="Calibri" pitchFamily="34" charset="-122"/>
                <a:cs typeface="Calibri" pitchFamily="34" charset="-120"/>
              </a:rPr>
              <a:t>Every stage is fixed and reproducible: one fingerprinted data file, seed 42, deterministic cuDNN, and calibration cross-fitted so no batch is ever calibrated on its own prediction.</a:t>
            </a:r>
            <a:endParaRPr lang="en-US" sz="1200" dirty="0"/>
          </a:p>
        </p:txBody>
      </p:sp>
      <p:sp>
        <p:nvSpPr>
          <p:cNvPr id="7" name="Text 4"/>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
        <p:nvSpPr>
          <p:cNvPr id="8" name="Text 5"/>
          <p:cNvSpPr/>
          <p:nvPr/>
        </p:nvSpPr>
        <p:spPr>
          <a:xfrm>
            <a:off x="10954512" y="6400800"/>
            <a:ext cx="548640" cy="256032"/>
          </a:xfrm>
          <a:prstGeom prst="rect">
            <a:avLst/>
          </a:prstGeom>
          <a:noFill/>
          <a:ln/>
        </p:spPr>
        <p:txBody>
          <a:bodyPr wrap="square" lIns="0" tIns="0" rIns="0" bIns="0" rtlCol="0" anchor="ctr"/>
          <a:lstStyle/>
          <a:p>
            <a:pPr algn="r" indent="0" marL="0">
              <a:buNone/>
            </a:pPr>
            <a:r>
              <a:rPr lang="en-US" sz="950" dirty="0">
                <a:solidFill>
                  <a:srgbClr val="8A9099"/>
                </a:solidFill>
                <a:latin typeface="Courier New" pitchFamily="34" charset="0"/>
                <a:ea typeface="Courier New" pitchFamily="34" charset="-122"/>
                <a:cs typeface="Courier New" pitchFamily="34" charset="-120"/>
              </a:rPr>
              <a:t>4</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8368" y="347472"/>
            <a:ext cx="8229600" cy="237744"/>
          </a:xfrm>
          <a:prstGeom prst="rect">
            <a:avLst/>
          </a:prstGeom>
          <a:noFill/>
          <a:ln/>
        </p:spPr>
        <p:txBody>
          <a:bodyPr wrap="square" lIns="0" tIns="0" rIns="0" bIns="0" rtlCol="0" anchor="ctr"/>
          <a:lstStyle/>
          <a:p>
            <a:pPr indent="0" marL="0">
              <a:buNone/>
            </a:pPr>
            <a:r>
              <a:rPr lang="en-US" sz="1050" b="1" spc="200" kern="0" dirty="0">
                <a:solidFill>
                  <a:srgbClr val="1F5C8B"/>
                </a:solidFill>
                <a:latin typeface="Courier New" pitchFamily="34" charset="0"/>
                <a:ea typeface="Courier New" pitchFamily="34" charset="-122"/>
                <a:cs typeface="Courier New" pitchFamily="34" charset="-120"/>
              </a:rPr>
              <a:t>MODEL AND SETUP</a:t>
            </a:r>
            <a:endParaRPr lang="en-US" sz="1050" dirty="0"/>
          </a:p>
        </p:txBody>
      </p:sp>
      <p:sp>
        <p:nvSpPr>
          <p:cNvPr id="3" name="Text 1"/>
          <p:cNvSpPr/>
          <p:nvPr/>
        </p:nvSpPr>
        <p:spPr>
          <a:xfrm>
            <a:off x="658368" y="676656"/>
            <a:ext cx="10844784" cy="548640"/>
          </a:xfrm>
          <a:prstGeom prst="rect">
            <a:avLst/>
          </a:prstGeom>
          <a:noFill/>
          <a:ln/>
        </p:spPr>
        <p:txBody>
          <a:bodyPr wrap="square" lIns="0" tIns="0" rIns="0" bIns="0" rtlCol="0" anchor="t"/>
          <a:lstStyle/>
          <a:p>
            <a:pPr indent="0" marL="0">
              <a:buNone/>
            </a:pPr>
            <a:r>
              <a:rPr lang="en-US" sz="3000" b="1" dirty="0">
                <a:solidFill>
                  <a:srgbClr val="141A21"/>
                </a:solidFill>
                <a:latin typeface="Cambria" pitchFamily="34" charset="0"/>
                <a:ea typeface="Cambria" pitchFamily="34" charset="-122"/>
                <a:cs typeface="Cambria" pitchFamily="34" charset="-120"/>
              </a:rPr>
              <a:t>MT-TrajNet, and how it is evaluated</a:t>
            </a:r>
            <a:endParaRPr lang="en-US" sz="3000" dirty="0"/>
          </a:p>
        </p:txBody>
      </p:sp>
      <p:sp>
        <p:nvSpPr>
          <p:cNvPr id="4" name="Shape 2"/>
          <p:cNvSpPr/>
          <p:nvPr/>
        </p:nvSpPr>
        <p:spPr>
          <a:xfrm>
            <a:off x="658368" y="2103120"/>
            <a:ext cx="1463040" cy="914400"/>
          </a:xfrm>
          <a:prstGeom prst="roundRect">
            <a:avLst>
              <a:gd name="adj" fmla="val 6000"/>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5" name="Text 3"/>
          <p:cNvSpPr/>
          <p:nvPr/>
        </p:nvSpPr>
        <p:spPr>
          <a:xfrm>
            <a:off x="658368" y="2249424"/>
            <a:ext cx="1463040" cy="237744"/>
          </a:xfrm>
          <a:prstGeom prst="rect">
            <a:avLst/>
          </a:prstGeom>
          <a:noFill/>
          <a:ln/>
        </p:spPr>
        <p:txBody>
          <a:bodyPr wrap="square" lIns="0" tIns="0" rIns="0" bIns="0" rtlCol="0" anchor="ctr"/>
          <a:lstStyle/>
          <a:p>
            <a:pPr algn="ctr" indent="0" marL="0">
              <a:buNone/>
            </a:pPr>
            <a:r>
              <a:rPr lang="en-US" sz="1100" b="1" dirty="0">
                <a:solidFill>
                  <a:srgbClr val="141A21"/>
                </a:solidFill>
                <a:latin typeface="Calibri" pitchFamily="34" charset="0"/>
                <a:ea typeface="Calibri" pitchFamily="34" charset="-122"/>
                <a:cs typeface="Calibri" pitchFamily="34" charset="-120"/>
              </a:rPr>
              <a:t>Trajectory</a:t>
            </a:r>
            <a:endParaRPr lang="en-US" sz="1100" dirty="0"/>
          </a:p>
        </p:txBody>
      </p:sp>
      <p:sp>
        <p:nvSpPr>
          <p:cNvPr id="6" name="Text 4"/>
          <p:cNvSpPr/>
          <p:nvPr/>
        </p:nvSpPr>
        <p:spPr>
          <a:xfrm>
            <a:off x="658368" y="2523744"/>
            <a:ext cx="1463040" cy="219456"/>
          </a:xfrm>
          <a:prstGeom prst="rect">
            <a:avLst/>
          </a:prstGeom>
          <a:noFill/>
          <a:ln/>
        </p:spPr>
        <p:txBody>
          <a:bodyPr wrap="square" lIns="0" tIns="0" rIns="0" bIns="0" rtlCol="0" anchor="ctr"/>
          <a:lstStyle/>
          <a:p>
            <a:pPr algn="ctr" indent="0" marL="0">
              <a:buNone/>
            </a:pPr>
            <a:r>
              <a:rPr lang="en-US" sz="900" dirty="0">
                <a:solidFill>
                  <a:srgbClr val="565D67"/>
                </a:solidFill>
                <a:latin typeface="Courier New" pitchFamily="34" charset="0"/>
                <a:ea typeface="Courier New" pitchFamily="34" charset="-122"/>
                <a:cs typeface="Courier New" pitchFamily="34" charset="-120"/>
              </a:rPr>
              <a:t>10 × 6,000</a:t>
            </a:r>
            <a:endParaRPr lang="en-US" sz="900" dirty="0"/>
          </a:p>
        </p:txBody>
      </p:sp>
      <p:sp>
        <p:nvSpPr>
          <p:cNvPr id="7" name="Shape 5"/>
          <p:cNvSpPr/>
          <p:nvPr/>
        </p:nvSpPr>
        <p:spPr>
          <a:xfrm>
            <a:off x="2487168" y="2103120"/>
            <a:ext cx="914400" cy="914400"/>
          </a:xfrm>
          <a:prstGeom prst="roundRect">
            <a:avLst>
              <a:gd name="adj" fmla="val 7000"/>
            </a:avLst>
          </a:prstGeom>
          <a:solidFill>
            <a:srgbClr val="E5EDF4"/>
          </a:solidFill>
          <a:ln w="12700">
            <a:solidFill>
              <a:srgbClr val="1F5C8B"/>
            </a:solidFill>
            <a:prstDash val="solid"/>
          </a:ln>
        </p:spPr>
      </p:sp>
      <p:sp>
        <p:nvSpPr>
          <p:cNvPr id="8" name="Text 6"/>
          <p:cNvSpPr/>
          <p:nvPr/>
        </p:nvSpPr>
        <p:spPr>
          <a:xfrm>
            <a:off x="2487168" y="2267712"/>
            <a:ext cx="914400" cy="219456"/>
          </a:xfrm>
          <a:prstGeom prst="rect">
            <a:avLst/>
          </a:prstGeom>
          <a:noFill/>
          <a:ln/>
        </p:spPr>
        <p:txBody>
          <a:bodyPr wrap="square" lIns="0" tIns="0" rIns="0" bIns="0" rtlCol="0" anchor="ctr"/>
          <a:lstStyle/>
          <a:p>
            <a:pPr algn="ctr" indent="0" marL="0">
              <a:buNone/>
            </a:pPr>
            <a:r>
              <a:rPr lang="en-US" sz="950" dirty="0">
                <a:solidFill>
                  <a:srgbClr val="141A21"/>
                </a:solidFill>
                <a:latin typeface="Calibri" pitchFamily="34" charset="0"/>
                <a:ea typeface="Calibri" pitchFamily="34" charset="-122"/>
                <a:cs typeface="Calibri" pitchFamily="34" charset="-120"/>
              </a:rPr>
              <a:t>blk 1</a:t>
            </a:r>
            <a:endParaRPr lang="en-US" sz="950" dirty="0"/>
          </a:p>
        </p:txBody>
      </p:sp>
      <p:sp>
        <p:nvSpPr>
          <p:cNvPr id="9" name="Text 7"/>
          <p:cNvSpPr/>
          <p:nvPr/>
        </p:nvSpPr>
        <p:spPr>
          <a:xfrm>
            <a:off x="2487168" y="2542032"/>
            <a:ext cx="914400" cy="219456"/>
          </a:xfrm>
          <a:prstGeom prst="rect">
            <a:avLst/>
          </a:prstGeom>
          <a:noFill/>
          <a:ln/>
        </p:spPr>
        <p:txBody>
          <a:bodyPr wrap="square" lIns="0" tIns="0" rIns="0" bIns="0" rtlCol="0" anchor="ctr"/>
          <a:lstStyle/>
          <a:p>
            <a:pPr algn="ctr" indent="0" marL="0">
              <a:buNone/>
            </a:pPr>
            <a:r>
              <a:rPr lang="en-US" sz="950" b="1" dirty="0">
                <a:solidFill>
                  <a:srgbClr val="1F5C8B"/>
                </a:solidFill>
                <a:latin typeface="Courier New" pitchFamily="34" charset="0"/>
                <a:ea typeface="Courier New" pitchFamily="34" charset="-122"/>
                <a:cs typeface="Courier New" pitchFamily="34" charset="-120"/>
              </a:rPr>
              <a:t>d=1</a:t>
            </a:r>
            <a:endParaRPr lang="en-US" sz="950" dirty="0"/>
          </a:p>
        </p:txBody>
      </p:sp>
      <p:sp>
        <p:nvSpPr>
          <p:cNvPr id="10" name="Shape 8"/>
          <p:cNvSpPr/>
          <p:nvPr/>
        </p:nvSpPr>
        <p:spPr>
          <a:xfrm>
            <a:off x="3538728" y="2103120"/>
            <a:ext cx="914400" cy="914400"/>
          </a:xfrm>
          <a:prstGeom prst="roundRect">
            <a:avLst>
              <a:gd name="adj" fmla="val 7000"/>
            </a:avLst>
          </a:prstGeom>
          <a:solidFill>
            <a:srgbClr val="E5EDF4"/>
          </a:solidFill>
          <a:ln w="12700">
            <a:solidFill>
              <a:srgbClr val="1F5C8B"/>
            </a:solidFill>
            <a:prstDash val="solid"/>
          </a:ln>
        </p:spPr>
      </p:sp>
      <p:sp>
        <p:nvSpPr>
          <p:cNvPr id="11" name="Text 9"/>
          <p:cNvSpPr/>
          <p:nvPr/>
        </p:nvSpPr>
        <p:spPr>
          <a:xfrm>
            <a:off x="3538728" y="2267712"/>
            <a:ext cx="914400" cy="219456"/>
          </a:xfrm>
          <a:prstGeom prst="rect">
            <a:avLst/>
          </a:prstGeom>
          <a:noFill/>
          <a:ln/>
        </p:spPr>
        <p:txBody>
          <a:bodyPr wrap="square" lIns="0" tIns="0" rIns="0" bIns="0" rtlCol="0" anchor="ctr"/>
          <a:lstStyle/>
          <a:p>
            <a:pPr algn="ctr" indent="0" marL="0">
              <a:buNone/>
            </a:pPr>
            <a:r>
              <a:rPr lang="en-US" sz="950" dirty="0">
                <a:solidFill>
                  <a:srgbClr val="141A21"/>
                </a:solidFill>
                <a:latin typeface="Calibri" pitchFamily="34" charset="0"/>
                <a:ea typeface="Calibri" pitchFamily="34" charset="-122"/>
                <a:cs typeface="Calibri" pitchFamily="34" charset="-120"/>
              </a:rPr>
              <a:t>blk 2</a:t>
            </a:r>
            <a:endParaRPr lang="en-US" sz="950" dirty="0"/>
          </a:p>
        </p:txBody>
      </p:sp>
      <p:sp>
        <p:nvSpPr>
          <p:cNvPr id="12" name="Text 10"/>
          <p:cNvSpPr/>
          <p:nvPr/>
        </p:nvSpPr>
        <p:spPr>
          <a:xfrm>
            <a:off x="3538728" y="2542032"/>
            <a:ext cx="914400" cy="219456"/>
          </a:xfrm>
          <a:prstGeom prst="rect">
            <a:avLst/>
          </a:prstGeom>
          <a:noFill/>
          <a:ln/>
        </p:spPr>
        <p:txBody>
          <a:bodyPr wrap="square" lIns="0" tIns="0" rIns="0" bIns="0" rtlCol="0" anchor="ctr"/>
          <a:lstStyle/>
          <a:p>
            <a:pPr algn="ctr" indent="0" marL="0">
              <a:buNone/>
            </a:pPr>
            <a:r>
              <a:rPr lang="en-US" sz="950" b="1" dirty="0">
                <a:solidFill>
                  <a:srgbClr val="1F5C8B"/>
                </a:solidFill>
                <a:latin typeface="Courier New" pitchFamily="34" charset="0"/>
                <a:ea typeface="Courier New" pitchFamily="34" charset="-122"/>
                <a:cs typeface="Courier New" pitchFamily="34" charset="-120"/>
              </a:rPr>
              <a:t>d=2</a:t>
            </a:r>
            <a:endParaRPr lang="en-US" sz="950" dirty="0"/>
          </a:p>
        </p:txBody>
      </p:sp>
      <p:sp>
        <p:nvSpPr>
          <p:cNvPr id="13" name="Shape 11"/>
          <p:cNvSpPr/>
          <p:nvPr/>
        </p:nvSpPr>
        <p:spPr>
          <a:xfrm>
            <a:off x="4590288" y="2103120"/>
            <a:ext cx="914400" cy="914400"/>
          </a:xfrm>
          <a:prstGeom prst="roundRect">
            <a:avLst>
              <a:gd name="adj" fmla="val 7000"/>
            </a:avLst>
          </a:prstGeom>
          <a:solidFill>
            <a:srgbClr val="E5EDF4"/>
          </a:solidFill>
          <a:ln w="12700">
            <a:solidFill>
              <a:srgbClr val="1F5C8B"/>
            </a:solidFill>
            <a:prstDash val="solid"/>
          </a:ln>
        </p:spPr>
      </p:sp>
      <p:sp>
        <p:nvSpPr>
          <p:cNvPr id="14" name="Text 12"/>
          <p:cNvSpPr/>
          <p:nvPr/>
        </p:nvSpPr>
        <p:spPr>
          <a:xfrm>
            <a:off x="4590288" y="2267712"/>
            <a:ext cx="914400" cy="219456"/>
          </a:xfrm>
          <a:prstGeom prst="rect">
            <a:avLst/>
          </a:prstGeom>
          <a:noFill/>
          <a:ln/>
        </p:spPr>
        <p:txBody>
          <a:bodyPr wrap="square" lIns="0" tIns="0" rIns="0" bIns="0" rtlCol="0" anchor="ctr"/>
          <a:lstStyle/>
          <a:p>
            <a:pPr algn="ctr" indent="0" marL="0">
              <a:buNone/>
            </a:pPr>
            <a:r>
              <a:rPr lang="en-US" sz="950" dirty="0">
                <a:solidFill>
                  <a:srgbClr val="141A21"/>
                </a:solidFill>
                <a:latin typeface="Calibri" pitchFamily="34" charset="0"/>
                <a:ea typeface="Calibri" pitchFamily="34" charset="-122"/>
                <a:cs typeface="Calibri" pitchFamily="34" charset="-120"/>
              </a:rPr>
              <a:t>blk 3</a:t>
            </a:r>
            <a:endParaRPr lang="en-US" sz="950" dirty="0"/>
          </a:p>
        </p:txBody>
      </p:sp>
      <p:sp>
        <p:nvSpPr>
          <p:cNvPr id="15" name="Text 13"/>
          <p:cNvSpPr/>
          <p:nvPr/>
        </p:nvSpPr>
        <p:spPr>
          <a:xfrm>
            <a:off x="4590288" y="2542032"/>
            <a:ext cx="914400" cy="219456"/>
          </a:xfrm>
          <a:prstGeom prst="rect">
            <a:avLst/>
          </a:prstGeom>
          <a:noFill/>
          <a:ln/>
        </p:spPr>
        <p:txBody>
          <a:bodyPr wrap="square" lIns="0" tIns="0" rIns="0" bIns="0" rtlCol="0" anchor="ctr"/>
          <a:lstStyle/>
          <a:p>
            <a:pPr algn="ctr" indent="0" marL="0">
              <a:buNone/>
            </a:pPr>
            <a:r>
              <a:rPr lang="en-US" sz="950" b="1" dirty="0">
                <a:solidFill>
                  <a:srgbClr val="1F5C8B"/>
                </a:solidFill>
                <a:latin typeface="Courier New" pitchFamily="34" charset="0"/>
                <a:ea typeface="Courier New" pitchFamily="34" charset="-122"/>
                <a:cs typeface="Courier New" pitchFamily="34" charset="-120"/>
              </a:rPr>
              <a:t>d=4</a:t>
            </a:r>
            <a:endParaRPr lang="en-US" sz="950" dirty="0"/>
          </a:p>
        </p:txBody>
      </p:sp>
      <p:sp>
        <p:nvSpPr>
          <p:cNvPr id="16" name="Shape 14"/>
          <p:cNvSpPr/>
          <p:nvPr/>
        </p:nvSpPr>
        <p:spPr>
          <a:xfrm>
            <a:off x="5641848" y="2103120"/>
            <a:ext cx="914400" cy="914400"/>
          </a:xfrm>
          <a:prstGeom prst="roundRect">
            <a:avLst>
              <a:gd name="adj" fmla="val 7000"/>
            </a:avLst>
          </a:prstGeom>
          <a:solidFill>
            <a:srgbClr val="E5EDF4"/>
          </a:solidFill>
          <a:ln w="12700">
            <a:solidFill>
              <a:srgbClr val="1F5C8B"/>
            </a:solidFill>
            <a:prstDash val="solid"/>
          </a:ln>
        </p:spPr>
      </p:sp>
      <p:sp>
        <p:nvSpPr>
          <p:cNvPr id="17" name="Text 15"/>
          <p:cNvSpPr/>
          <p:nvPr/>
        </p:nvSpPr>
        <p:spPr>
          <a:xfrm>
            <a:off x="5641848" y="2267712"/>
            <a:ext cx="914400" cy="219456"/>
          </a:xfrm>
          <a:prstGeom prst="rect">
            <a:avLst/>
          </a:prstGeom>
          <a:noFill/>
          <a:ln/>
        </p:spPr>
        <p:txBody>
          <a:bodyPr wrap="square" lIns="0" tIns="0" rIns="0" bIns="0" rtlCol="0" anchor="ctr"/>
          <a:lstStyle/>
          <a:p>
            <a:pPr algn="ctr" indent="0" marL="0">
              <a:buNone/>
            </a:pPr>
            <a:r>
              <a:rPr lang="en-US" sz="950" dirty="0">
                <a:solidFill>
                  <a:srgbClr val="141A21"/>
                </a:solidFill>
                <a:latin typeface="Calibri" pitchFamily="34" charset="0"/>
                <a:ea typeface="Calibri" pitchFamily="34" charset="-122"/>
                <a:cs typeface="Calibri" pitchFamily="34" charset="-120"/>
              </a:rPr>
              <a:t>blk 4</a:t>
            </a:r>
            <a:endParaRPr lang="en-US" sz="950" dirty="0"/>
          </a:p>
        </p:txBody>
      </p:sp>
      <p:sp>
        <p:nvSpPr>
          <p:cNvPr id="18" name="Text 16"/>
          <p:cNvSpPr/>
          <p:nvPr/>
        </p:nvSpPr>
        <p:spPr>
          <a:xfrm>
            <a:off x="5641848" y="2542032"/>
            <a:ext cx="914400" cy="219456"/>
          </a:xfrm>
          <a:prstGeom prst="rect">
            <a:avLst/>
          </a:prstGeom>
          <a:noFill/>
          <a:ln/>
        </p:spPr>
        <p:txBody>
          <a:bodyPr wrap="square" lIns="0" tIns="0" rIns="0" bIns="0" rtlCol="0" anchor="ctr"/>
          <a:lstStyle/>
          <a:p>
            <a:pPr algn="ctr" indent="0" marL="0">
              <a:buNone/>
            </a:pPr>
            <a:r>
              <a:rPr lang="en-US" sz="950" b="1" dirty="0">
                <a:solidFill>
                  <a:srgbClr val="1F5C8B"/>
                </a:solidFill>
                <a:latin typeface="Courier New" pitchFamily="34" charset="0"/>
                <a:ea typeface="Courier New" pitchFamily="34" charset="-122"/>
                <a:cs typeface="Courier New" pitchFamily="34" charset="-120"/>
              </a:rPr>
              <a:t>d=8</a:t>
            </a:r>
            <a:endParaRPr lang="en-US" sz="950" dirty="0"/>
          </a:p>
        </p:txBody>
      </p:sp>
      <p:sp>
        <p:nvSpPr>
          <p:cNvPr id="19" name="Shape 17"/>
          <p:cNvSpPr/>
          <p:nvPr/>
        </p:nvSpPr>
        <p:spPr>
          <a:xfrm>
            <a:off x="2176272" y="2560320"/>
            <a:ext cx="256032" cy="0"/>
          </a:xfrm>
          <a:prstGeom prst="line">
            <a:avLst/>
          </a:prstGeom>
          <a:noFill/>
          <a:ln w="15240">
            <a:solidFill>
              <a:srgbClr val="8A9099"/>
            </a:solidFill>
            <a:prstDash val="solid"/>
            <a:tailEnd type="triangle"/>
          </a:ln>
        </p:spPr>
      </p:sp>
      <p:sp>
        <p:nvSpPr>
          <p:cNvPr id="20" name="Shape 18"/>
          <p:cNvSpPr/>
          <p:nvPr/>
        </p:nvSpPr>
        <p:spPr>
          <a:xfrm>
            <a:off x="6693408" y="2560320"/>
            <a:ext cx="256032" cy="0"/>
          </a:xfrm>
          <a:prstGeom prst="line">
            <a:avLst/>
          </a:prstGeom>
          <a:noFill/>
          <a:ln w="15240">
            <a:solidFill>
              <a:srgbClr val="8A9099"/>
            </a:solidFill>
            <a:prstDash val="solid"/>
            <a:tailEnd type="triangle"/>
          </a:ln>
        </p:spPr>
      </p:sp>
      <p:sp>
        <p:nvSpPr>
          <p:cNvPr id="21" name="Shape 19"/>
          <p:cNvSpPr/>
          <p:nvPr/>
        </p:nvSpPr>
        <p:spPr>
          <a:xfrm>
            <a:off x="7004304" y="2103120"/>
            <a:ext cx="1234440" cy="914400"/>
          </a:xfrm>
          <a:prstGeom prst="roundRect">
            <a:avLst>
              <a:gd name="adj" fmla="val 6000"/>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22" name="Text 20"/>
          <p:cNvSpPr/>
          <p:nvPr/>
        </p:nvSpPr>
        <p:spPr>
          <a:xfrm>
            <a:off x="7004304" y="2249424"/>
            <a:ext cx="1234440" cy="237744"/>
          </a:xfrm>
          <a:prstGeom prst="rect">
            <a:avLst/>
          </a:prstGeom>
          <a:noFill/>
          <a:ln/>
        </p:spPr>
        <p:txBody>
          <a:bodyPr wrap="square" lIns="0" tIns="0" rIns="0" bIns="0" rtlCol="0" anchor="ctr"/>
          <a:lstStyle/>
          <a:p>
            <a:pPr algn="ctr" indent="0" marL="0">
              <a:buNone/>
            </a:pPr>
            <a:r>
              <a:rPr lang="en-US" sz="1100" b="1" dirty="0">
                <a:solidFill>
                  <a:srgbClr val="141A21"/>
                </a:solidFill>
                <a:latin typeface="Calibri" pitchFamily="34" charset="0"/>
                <a:ea typeface="Calibri" pitchFamily="34" charset="-122"/>
                <a:cs typeface="Calibri" pitchFamily="34" charset="-120"/>
              </a:rPr>
              <a:t>Pooling</a:t>
            </a:r>
            <a:endParaRPr lang="en-US" sz="1100" dirty="0"/>
          </a:p>
        </p:txBody>
      </p:sp>
      <p:sp>
        <p:nvSpPr>
          <p:cNvPr id="23" name="Text 21"/>
          <p:cNvSpPr/>
          <p:nvPr/>
        </p:nvSpPr>
        <p:spPr>
          <a:xfrm>
            <a:off x="7004304" y="2523744"/>
            <a:ext cx="1234440" cy="219456"/>
          </a:xfrm>
          <a:prstGeom prst="rect">
            <a:avLst/>
          </a:prstGeom>
          <a:noFill/>
          <a:ln/>
        </p:spPr>
        <p:txBody>
          <a:bodyPr wrap="square" lIns="0" tIns="0" rIns="0" bIns="0" rtlCol="0" anchor="ctr"/>
          <a:lstStyle/>
          <a:p>
            <a:pPr algn="ctr" indent="0" marL="0">
              <a:buNone/>
            </a:pPr>
            <a:r>
              <a:rPr lang="en-US" sz="900" dirty="0">
                <a:solidFill>
                  <a:srgbClr val="565D67"/>
                </a:solidFill>
                <a:latin typeface="Courier New" pitchFamily="34" charset="0"/>
                <a:ea typeface="Courier New" pitchFamily="34" charset="-122"/>
                <a:cs typeface="Courier New" pitchFamily="34" charset="-120"/>
              </a:rPr>
              <a:t>128-dim</a:t>
            </a:r>
            <a:endParaRPr lang="en-US" sz="900" dirty="0"/>
          </a:p>
        </p:txBody>
      </p:sp>
      <p:sp>
        <p:nvSpPr>
          <p:cNvPr id="24" name="Shape 22"/>
          <p:cNvSpPr/>
          <p:nvPr/>
        </p:nvSpPr>
        <p:spPr>
          <a:xfrm>
            <a:off x="8293608" y="2560320"/>
            <a:ext cx="219456" cy="0"/>
          </a:xfrm>
          <a:prstGeom prst="line">
            <a:avLst/>
          </a:prstGeom>
          <a:noFill/>
          <a:ln w="15240">
            <a:solidFill>
              <a:srgbClr val="8A9099"/>
            </a:solidFill>
            <a:prstDash val="solid"/>
            <a:tailEnd type="triangle"/>
          </a:ln>
        </p:spPr>
      </p:sp>
      <p:sp>
        <p:nvSpPr>
          <p:cNvPr id="25" name="Shape 23"/>
          <p:cNvSpPr/>
          <p:nvPr/>
        </p:nvSpPr>
        <p:spPr>
          <a:xfrm>
            <a:off x="8586216" y="1719072"/>
            <a:ext cx="2057400" cy="365760"/>
          </a:xfrm>
          <a:prstGeom prst="roundRect">
            <a:avLst>
              <a:gd name="adj" fmla="val 12500"/>
            </a:avLst>
          </a:prstGeom>
          <a:solidFill>
            <a:srgbClr val="FFFFFF"/>
          </a:solidFill>
          <a:ln w="9525">
            <a:solidFill>
              <a:srgbClr val="D4D1C8"/>
            </a:solidFill>
            <a:prstDash val="solid"/>
          </a:ln>
        </p:spPr>
      </p:sp>
      <p:sp>
        <p:nvSpPr>
          <p:cNvPr id="26" name="Text 24"/>
          <p:cNvSpPr/>
          <p:nvPr/>
        </p:nvSpPr>
        <p:spPr>
          <a:xfrm>
            <a:off x="8705088" y="1719072"/>
            <a:ext cx="1005840" cy="365760"/>
          </a:xfrm>
          <a:prstGeom prst="rect">
            <a:avLst/>
          </a:prstGeom>
          <a:noFill/>
          <a:ln/>
        </p:spPr>
        <p:txBody>
          <a:bodyPr wrap="square" lIns="0" tIns="0" rIns="0" bIns="0" rtlCol="0" anchor="ctr"/>
          <a:lstStyle/>
          <a:p>
            <a:pPr indent="0" marL="0">
              <a:buNone/>
            </a:pPr>
            <a:r>
              <a:rPr lang="en-US" sz="1000" dirty="0">
                <a:solidFill>
                  <a:srgbClr val="141A21"/>
                </a:solidFill>
                <a:latin typeface="Calibri" pitchFamily="34" charset="0"/>
                <a:ea typeface="Calibri" pitchFamily="34" charset="-122"/>
                <a:cs typeface="Calibri" pitchFamily="34" charset="-120"/>
              </a:rPr>
              <a:t>Dissolution</a:t>
            </a:r>
            <a:endParaRPr lang="en-US" sz="1000" dirty="0"/>
          </a:p>
        </p:txBody>
      </p:sp>
      <p:sp>
        <p:nvSpPr>
          <p:cNvPr id="27" name="Text 25"/>
          <p:cNvSpPr/>
          <p:nvPr/>
        </p:nvSpPr>
        <p:spPr>
          <a:xfrm>
            <a:off x="9802368" y="1719072"/>
            <a:ext cx="713232" cy="365760"/>
          </a:xfrm>
          <a:prstGeom prst="rect">
            <a:avLst/>
          </a:prstGeom>
          <a:noFill/>
          <a:ln/>
        </p:spPr>
        <p:txBody>
          <a:bodyPr wrap="square" lIns="0" tIns="0" rIns="0" bIns="0" rtlCol="0" anchor="ctr"/>
          <a:lstStyle/>
          <a:p>
            <a:pPr algn="r" indent="0" marL="0">
              <a:buNone/>
            </a:pPr>
            <a:r>
              <a:rPr lang="en-US" sz="850" dirty="0">
                <a:solidFill>
                  <a:srgbClr val="1F5C8B"/>
                </a:solidFill>
                <a:latin typeface="Courier New" pitchFamily="34" charset="0"/>
                <a:ea typeface="Courier New" pitchFamily="34" charset="-122"/>
                <a:cs typeface="Courier New" pitchFamily="34" charset="-120"/>
              </a:rPr>
              <a:t>γ ν α β</a:t>
            </a:r>
            <a:endParaRPr lang="en-US" sz="850" dirty="0"/>
          </a:p>
        </p:txBody>
      </p:sp>
      <p:sp>
        <p:nvSpPr>
          <p:cNvPr id="28" name="Shape 26"/>
          <p:cNvSpPr/>
          <p:nvPr/>
        </p:nvSpPr>
        <p:spPr>
          <a:xfrm>
            <a:off x="8586216" y="2176272"/>
            <a:ext cx="2057400" cy="365760"/>
          </a:xfrm>
          <a:prstGeom prst="roundRect">
            <a:avLst>
              <a:gd name="adj" fmla="val 12500"/>
            </a:avLst>
          </a:prstGeom>
          <a:solidFill>
            <a:srgbClr val="FFFFFF"/>
          </a:solidFill>
          <a:ln w="9525">
            <a:solidFill>
              <a:srgbClr val="D4D1C8"/>
            </a:solidFill>
            <a:prstDash val="solid"/>
          </a:ln>
        </p:spPr>
      </p:sp>
      <p:sp>
        <p:nvSpPr>
          <p:cNvPr id="29" name="Text 27"/>
          <p:cNvSpPr/>
          <p:nvPr/>
        </p:nvSpPr>
        <p:spPr>
          <a:xfrm>
            <a:off x="8705088" y="2176272"/>
            <a:ext cx="1005840" cy="365760"/>
          </a:xfrm>
          <a:prstGeom prst="rect">
            <a:avLst/>
          </a:prstGeom>
          <a:noFill/>
          <a:ln/>
        </p:spPr>
        <p:txBody>
          <a:bodyPr wrap="square" lIns="0" tIns="0" rIns="0" bIns="0" rtlCol="0" anchor="ctr"/>
          <a:lstStyle/>
          <a:p>
            <a:pPr indent="0" marL="0">
              <a:buNone/>
            </a:pPr>
            <a:r>
              <a:rPr lang="en-US" sz="1000" dirty="0">
                <a:solidFill>
                  <a:srgbClr val="141A21"/>
                </a:solidFill>
                <a:latin typeface="Calibri" pitchFamily="34" charset="0"/>
                <a:ea typeface="Calibri" pitchFamily="34" charset="-122"/>
                <a:cs typeface="Calibri" pitchFamily="34" charset="-120"/>
              </a:rPr>
              <a:t>Hardness</a:t>
            </a:r>
            <a:endParaRPr lang="en-US" sz="1000" dirty="0"/>
          </a:p>
        </p:txBody>
      </p:sp>
      <p:sp>
        <p:nvSpPr>
          <p:cNvPr id="30" name="Text 28"/>
          <p:cNvSpPr/>
          <p:nvPr/>
        </p:nvSpPr>
        <p:spPr>
          <a:xfrm>
            <a:off x="9802368" y="2176272"/>
            <a:ext cx="713232" cy="365760"/>
          </a:xfrm>
          <a:prstGeom prst="rect">
            <a:avLst/>
          </a:prstGeom>
          <a:noFill/>
          <a:ln/>
        </p:spPr>
        <p:txBody>
          <a:bodyPr wrap="square" lIns="0" tIns="0" rIns="0" bIns="0" rtlCol="0" anchor="ctr"/>
          <a:lstStyle/>
          <a:p>
            <a:pPr algn="r" indent="0" marL="0">
              <a:buNone/>
            </a:pPr>
            <a:r>
              <a:rPr lang="en-US" sz="850" dirty="0">
                <a:solidFill>
                  <a:srgbClr val="1F5C8B"/>
                </a:solidFill>
                <a:latin typeface="Courier New" pitchFamily="34" charset="0"/>
                <a:ea typeface="Courier New" pitchFamily="34" charset="-122"/>
                <a:cs typeface="Courier New" pitchFamily="34" charset="-120"/>
              </a:rPr>
              <a:t>γ ν α β</a:t>
            </a:r>
            <a:endParaRPr lang="en-US" sz="850" dirty="0"/>
          </a:p>
        </p:txBody>
      </p:sp>
      <p:sp>
        <p:nvSpPr>
          <p:cNvPr id="31" name="Shape 29"/>
          <p:cNvSpPr/>
          <p:nvPr/>
        </p:nvSpPr>
        <p:spPr>
          <a:xfrm>
            <a:off x="8586216" y="2633472"/>
            <a:ext cx="2057400" cy="365760"/>
          </a:xfrm>
          <a:prstGeom prst="roundRect">
            <a:avLst>
              <a:gd name="adj" fmla="val 12500"/>
            </a:avLst>
          </a:prstGeom>
          <a:solidFill>
            <a:srgbClr val="FFFFFF"/>
          </a:solidFill>
          <a:ln w="9525">
            <a:solidFill>
              <a:srgbClr val="D4D1C8"/>
            </a:solidFill>
            <a:prstDash val="solid"/>
          </a:ln>
        </p:spPr>
      </p:sp>
      <p:sp>
        <p:nvSpPr>
          <p:cNvPr id="32" name="Text 30"/>
          <p:cNvSpPr/>
          <p:nvPr/>
        </p:nvSpPr>
        <p:spPr>
          <a:xfrm>
            <a:off x="8705088" y="2633472"/>
            <a:ext cx="1005840" cy="365760"/>
          </a:xfrm>
          <a:prstGeom prst="rect">
            <a:avLst/>
          </a:prstGeom>
          <a:noFill/>
          <a:ln/>
        </p:spPr>
        <p:txBody>
          <a:bodyPr wrap="square" lIns="0" tIns="0" rIns="0" bIns="0" rtlCol="0" anchor="ctr"/>
          <a:lstStyle/>
          <a:p>
            <a:pPr indent="0" marL="0">
              <a:buNone/>
            </a:pPr>
            <a:r>
              <a:rPr lang="en-US" sz="1000" dirty="0">
                <a:solidFill>
                  <a:srgbClr val="141A21"/>
                </a:solidFill>
                <a:latin typeface="Calibri" pitchFamily="34" charset="0"/>
                <a:ea typeface="Calibri" pitchFamily="34" charset="-122"/>
                <a:cs typeface="Calibri" pitchFamily="34" charset="-120"/>
              </a:rPr>
              <a:t>Weight RSD</a:t>
            </a:r>
            <a:endParaRPr lang="en-US" sz="1000" dirty="0"/>
          </a:p>
        </p:txBody>
      </p:sp>
      <p:sp>
        <p:nvSpPr>
          <p:cNvPr id="33" name="Text 31"/>
          <p:cNvSpPr/>
          <p:nvPr/>
        </p:nvSpPr>
        <p:spPr>
          <a:xfrm>
            <a:off x="9802368" y="2633472"/>
            <a:ext cx="713232" cy="365760"/>
          </a:xfrm>
          <a:prstGeom prst="rect">
            <a:avLst/>
          </a:prstGeom>
          <a:noFill/>
          <a:ln/>
        </p:spPr>
        <p:txBody>
          <a:bodyPr wrap="square" lIns="0" tIns="0" rIns="0" bIns="0" rtlCol="0" anchor="ctr"/>
          <a:lstStyle/>
          <a:p>
            <a:pPr algn="r" indent="0" marL="0">
              <a:buNone/>
            </a:pPr>
            <a:r>
              <a:rPr lang="en-US" sz="850" dirty="0">
                <a:solidFill>
                  <a:srgbClr val="1F5C8B"/>
                </a:solidFill>
                <a:latin typeface="Courier New" pitchFamily="34" charset="0"/>
                <a:ea typeface="Courier New" pitchFamily="34" charset="-122"/>
                <a:cs typeface="Courier New" pitchFamily="34" charset="-120"/>
              </a:rPr>
              <a:t>γ ν α β</a:t>
            </a:r>
            <a:endParaRPr lang="en-US" sz="850" dirty="0"/>
          </a:p>
        </p:txBody>
      </p:sp>
      <p:sp>
        <p:nvSpPr>
          <p:cNvPr id="34" name="Shape 32"/>
          <p:cNvSpPr/>
          <p:nvPr/>
        </p:nvSpPr>
        <p:spPr>
          <a:xfrm>
            <a:off x="8586216" y="3090672"/>
            <a:ext cx="2057400" cy="365760"/>
          </a:xfrm>
          <a:prstGeom prst="roundRect">
            <a:avLst>
              <a:gd name="adj" fmla="val 12500"/>
            </a:avLst>
          </a:prstGeom>
          <a:solidFill>
            <a:srgbClr val="FFFFFF"/>
          </a:solidFill>
          <a:ln w="9525">
            <a:solidFill>
              <a:srgbClr val="D4D1C8"/>
            </a:solidFill>
            <a:prstDash val="solid"/>
          </a:ln>
        </p:spPr>
      </p:sp>
      <p:sp>
        <p:nvSpPr>
          <p:cNvPr id="35" name="Text 33"/>
          <p:cNvSpPr/>
          <p:nvPr/>
        </p:nvSpPr>
        <p:spPr>
          <a:xfrm>
            <a:off x="8705088" y="3090672"/>
            <a:ext cx="1005840" cy="365760"/>
          </a:xfrm>
          <a:prstGeom prst="rect">
            <a:avLst/>
          </a:prstGeom>
          <a:noFill/>
          <a:ln/>
        </p:spPr>
        <p:txBody>
          <a:bodyPr wrap="square" lIns="0" tIns="0" rIns="0" bIns="0" rtlCol="0" anchor="ctr"/>
          <a:lstStyle/>
          <a:p>
            <a:pPr indent="0" marL="0">
              <a:buNone/>
            </a:pPr>
            <a:r>
              <a:rPr lang="en-US" sz="1000" dirty="0">
                <a:solidFill>
                  <a:srgbClr val="141A21"/>
                </a:solidFill>
                <a:latin typeface="Calibri" pitchFamily="34" charset="0"/>
                <a:ea typeface="Calibri" pitchFamily="34" charset="-122"/>
                <a:cs typeface="Calibri" pitchFamily="34" charset="-120"/>
              </a:rPr>
              <a:t>Tensile</a:t>
            </a:r>
            <a:endParaRPr lang="en-US" sz="1000" dirty="0"/>
          </a:p>
        </p:txBody>
      </p:sp>
      <p:sp>
        <p:nvSpPr>
          <p:cNvPr id="36" name="Text 34"/>
          <p:cNvSpPr/>
          <p:nvPr/>
        </p:nvSpPr>
        <p:spPr>
          <a:xfrm>
            <a:off x="9802368" y="3090672"/>
            <a:ext cx="713232" cy="365760"/>
          </a:xfrm>
          <a:prstGeom prst="rect">
            <a:avLst/>
          </a:prstGeom>
          <a:noFill/>
          <a:ln/>
        </p:spPr>
        <p:txBody>
          <a:bodyPr wrap="square" lIns="0" tIns="0" rIns="0" bIns="0" rtlCol="0" anchor="ctr"/>
          <a:lstStyle/>
          <a:p>
            <a:pPr algn="r" indent="0" marL="0">
              <a:buNone/>
            </a:pPr>
            <a:r>
              <a:rPr lang="en-US" sz="850" dirty="0">
                <a:solidFill>
                  <a:srgbClr val="1F5C8B"/>
                </a:solidFill>
                <a:latin typeface="Courier New" pitchFamily="34" charset="0"/>
                <a:ea typeface="Courier New" pitchFamily="34" charset="-122"/>
                <a:cs typeface="Courier New" pitchFamily="34" charset="-120"/>
              </a:rPr>
              <a:t>γ ν α β</a:t>
            </a:r>
            <a:endParaRPr lang="en-US" sz="850" dirty="0"/>
          </a:p>
        </p:txBody>
      </p:sp>
      <p:sp>
        <p:nvSpPr>
          <p:cNvPr id="37" name="Text 35"/>
          <p:cNvSpPr/>
          <p:nvPr/>
        </p:nvSpPr>
        <p:spPr>
          <a:xfrm>
            <a:off x="2487168" y="1792224"/>
            <a:ext cx="4206240" cy="201168"/>
          </a:xfrm>
          <a:prstGeom prst="rect">
            <a:avLst/>
          </a:prstGeom>
          <a:noFill/>
          <a:ln/>
        </p:spPr>
        <p:txBody>
          <a:bodyPr wrap="square" lIns="0" tIns="0" rIns="0" bIns="0" rtlCol="0" anchor="ctr"/>
          <a:lstStyle/>
          <a:p>
            <a:pPr indent="0" marL="0">
              <a:buNone/>
            </a:pPr>
            <a:r>
              <a:rPr lang="en-US" sz="850" spc="100" kern="0" dirty="0">
                <a:solidFill>
                  <a:srgbClr val="8A9099"/>
                </a:solidFill>
                <a:latin typeface="Courier New" pitchFamily="34" charset="0"/>
                <a:ea typeface="Courier New" pitchFamily="34" charset="-122"/>
                <a:cs typeface="Courier New" pitchFamily="34" charset="-120"/>
              </a:rPr>
              <a:t>SHARED TCN ENCODER</a:t>
            </a:r>
            <a:endParaRPr lang="en-US" sz="850" dirty="0"/>
          </a:p>
        </p:txBody>
      </p:sp>
      <p:sp>
        <p:nvSpPr>
          <p:cNvPr id="38" name="Text 36"/>
          <p:cNvSpPr/>
          <p:nvPr/>
        </p:nvSpPr>
        <p:spPr>
          <a:xfrm>
            <a:off x="8586216" y="1408176"/>
            <a:ext cx="2194560" cy="201168"/>
          </a:xfrm>
          <a:prstGeom prst="rect">
            <a:avLst/>
          </a:prstGeom>
          <a:noFill/>
          <a:ln/>
        </p:spPr>
        <p:txBody>
          <a:bodyPr wrap="square" lIns="0" tIns="0" rIns="0" bIns="0" rtlCol="0" anchor="ctr"/>
          <a:lstStyle/>
          <a:p>
            <a:pPr indent="0" marL="0">
              <a:buNone/>
            </a:pPr>
            <a:r>
              <a:rPr lang="en-US" sz="850" spc="100" kern="0" dirty="0">
                <a:solidFill>
                  <a:srgbClr val="8A9099"/>
                </a:solidFill>
                <a:latin typeface="Courier New" pitchFamily="34" charset="0"/>
                <a:ea typeface="Courier New" pitchFamily="34" charset="-122"/>
                <a:cs typeface="Courier New" pitchFamily="34" charset="-120"/>
              </a:rPr>
              <a:t>FOUR EVIDENTIAL HEADS</a:t>
            </a:r>
            <a:endParaRPr lang="en-US" sz="850" dirty="0"/>
          </a:p>
        </p:txBody>
      </p:sp>
      <p:sp>
        <p:nvSpPr>
          <p:cNvPr id="39" name="Shape 37"/>
          <p:cNvSpPr/>
          <p:nvPr/>
        </p:nvSpPr>
        <p:spPr>
          <a:xfrm>
            <a:off x="658368" y="3840480"/>
            <a:ext cx="73152" cy="777240"/>
          </a:xfrm>
          <a:prstGeom prst="roundRect">
            <a:avLst>
              <a:gd name="adj" fmla="val 37500"/>
            </a:avLst>
          </a:prstGeom>
          <a:solidFill>
            <a:srgbClr val="1F5C8B"/>
          </a:solidFill>
          <a:ln w="12700">
            <a:solidFill>
              <a:srgbClr val="1F5C8B"/>
            </a:solidFill>
            <a:prstDash val="solid"/>
          </a:ln>
        </p:spPr>
      </p:sp>
      <p:sp>
        <p:nvSpPr>
          <p:cNvPr id="40" name="Text 38"/>
          <p:cNvSpPr/>
          <p:nvPr/>
        </p:nvSpPr>
        <p:spPr>
          <a:xfrm>
            <a:off x="932688" y="3794760"/>
            <a:ext cx="5029200" cy="292608"/>
          </a:xfrm>
          <a:prstGeom prst="rect">
            <a:avLst/>
          </a:prstGeom>
          <a:noFill/>
          <a:ln/>
        </p:spPr>
        <p:txBody>
          <a:bodyPr wrap="square" lIns="0" tIns="0" rIns="0" bIns="0" rtlCol="0" anchor="ctr"/>
          <a:lstStyle/>
          <a:p>
            <a:pPr indent="0" marL="0">
              <a:buNone/>
            </a:pPr>
            <a:r>
              <a:rPr lang="en-US" sz="1350" b="1" dirty="0">
                <a:solidFill>
                  <a:srgbClr val="141A21"/>
                </a:solidFill>
                <a:latin typeface="Cambria" pitchFamily="34" charset="0"/>
                <a:ea typeface="Cambria" pitchFamily="34" charset="-122"/>
                <a:cs typeface="Cambria" pitchFamily="34" charset="-120"/>
              </a:rPr>
              <a:t>384,400 parameters</a:t>
            </a:r>
            <a:endParaRPr lang="en-US" sz="1350" dirty="0"/>
          </a:p>
        </p:txBody>
      </p:sp>
      <p:sp>
        <p:nvSpPr>
          <p:cNvPr id="41" name="Text 39"/>
          <p:cNvSpPr/>
          <p:nvPr/>
        </p:nvSpPr>
        <p:spPr>
          <a:xfrm>
            <a:off x="932688" y="4123944"/>
            <a:ext cx="5029200" cy="457200"/>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3.73× smaller than four separate models</a:t>
            </a:r>
            <a:endParaRPr lang="en-US" sz="1150" dirty="0"/>
          </a:p>
        </p:txBody>
      </p:sp>
      <p:sp>
        <p:nvSpPr>
          <p:cNvPr id="42" name="Shape 40"/>
          <p:cNvSpPr/>
          <p:nvPr/>
        </p:nvSpPr>
        <p:spPr>
          <a:xfrm>
            <a:off x="6190488" y="3840480"/>
            <a:ext cx="73152" cy="777240"/>
          </a:xfrm>
          <a:prstGeom prst="roundRect">
            <a:avLst>
              <a:gd name="adj" fmla="val 37500"/>
            </a:avLst>
          </a:prstGeom>
          <a:solidFill>
            <a:srgbClr val="1F6F55"/>
          </a:solidFill>
          <a:ln w="12700">
            <a:solidFill>
              <a:srgbClr val="1F6F55"/>
            </a:solidFill>
            <a:prstDash val="solid"/>
          </a:ln>
        </p:spPr>
      </p:sp>
      <p:sp>
        <p:nvSpPr>
          <p:cNvPr id="43" name="Text 41"/>
          <p:cNvSpPr/>
          <p:nvPr/>
        </p:nvSpPr>
        <p:spPr>
          <a:xfrm>
            <a:off x="6464808" y="3794760"/>
            <a:ext cx="5029200" cy="292608"/>
          </a:xfrm>
          <a:prstGeom prst="rect">
            <a:avLst/>
          </a:prstGeom>
          <a:noFill/>
          <a:ln/>
        </p:spPr>
        <p:txBody>
          <a:bodyPr wrap="square" lIns="0" tIns="0" rIns="0" bIns="0" rtlCol="0" anchor="ctr"/>
          <a:lstStyle/>
          <a:p>
            <a:pPr indent="0" marL="0">
              <a:buNone/>
            </a:pPr>
            <a:r>
              <a:rPr lang="en-US" sz="1350" b="1" dirty="0">
                <a:solidFill>
                  <a:srgbClr val="141A21"/>
                </a:solidFill>
                <a:latin typeface="Cambria" pitchFamily="34" charset="0"/>
                <a:ea typeface="Cambria" pitchFamily="34" charset="-122"/>
                <a:cs typeface="Cambria" pitchFamily="34" charset="-120"/>
              </a:rPr>
              <a:t>941 batches, 3 folds</a:t>
            </a:r>
            <a:endParaRPr lang="en-US" sz="1350" dirty="0"/>
          </a:p>
        </p:txBody>
      </p:sp>
      <p:sp>
        <p:nvSpPr>
          <p:cNvPr id="44" name="Text 42"/>
          <p:cNvSpPr/>
          <p:nvPr/>
        </p:nvSpPr>
        <p:spPr>
          <a:xfrm>
            <a:off x="6464808" y="4123944"/>
            <a:ext cx="5029200" cy="457200"/>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grouped by product code to stop leakage</a:t>
            </a:r>
            <a:endParaRPr lang="en-US" sz="1150" dirty="0"/>
          </a:p>
        </p:txBody>
      </p:sp>
      <p:sp>
        <p:nvSpPr>
          <p:cNvPr id="45" name="Shape 43"/>
          <p:cNvSpPr/>
          <p:nvPr/>
        </p:nvSpPr>
        <p:spPr>
          <a:xfrm>
            <a:off x="658368" y="4892040"/>
            <a:ext cx="73152" cy="777240"/>
          </a:xfrm>
          <a:prstGeom prst="roundRect">
            <a:avLst>
              <a:gd name="adj" fmla="val 37500"/>
            </a:avLst>
          </a:prstGeom>
          <a:solidFill>
            <a:srgbClr val="AD6425"/>
          </a:solidFill>
          <a:ln w="12700">
            <a:solidFill>
              <a:srgbClr val="AD6425"/>
            </a:solidFill>
            <a:prstDash val="solid"/>
          </a:ln>
        </p:spPr>
      </p:sp>
      <p:sp>
        <p:nvSpPr>
          <p:cNvPr id="46" name="Text 44"/>
          <p:cNvSpPr/>
          <p:nvPr/>
        </p:nvSpPr>
        <p:spPr>
          <a:xfrm>
            <a:off x="932688" y="4846320"/>
            <a:ext cx="5029200" cy="292608"/>
          </a:xfrm>
          <a:prstGeom prst="rect">
            <a:avLst/>
          </a:prstGeom>
          <a:noFill/>
          <a:ln/>
        </p:spPr>
        <p:txBody>
          <a:bodyPr wrap="square" lIns="0" tIns="0" rIns="0" bIns="0" rtlCol="0" anchor="ctr"/>
          <a:lstStyle/>
          <a:p>
            <a:pPr indent="0" marL="0">
              <a:buNone/>
            </a:pPr>
            <a:r>
              <a:rPr lang="en-US" sz="1350" b="1" dirty="0">
                <a:solidFill>
                  <a:srgbClr val="141A21"/>
                </a:solidFill>
                <a:latin typeface="Cambria" pitchFamily="34" charset="0"/>
                <a:ea typeface="Cambria" pitchFamily="34" charset="-122"/>
                <a:cs typeface="Cambria" pitchFamily="34" charset="-120"/>
              </a:rPr>
              <a:t>Code 15 held out</a:t>
            </a:r>
            <a:endParaRPr lang="en-US" sz="1350" dirty="0"/>
          </a:p>
        </p:txBody>
      </p:sp>
      <p:sp>
        <p:nvSpPr>
          <p:cNvPr id="47" name="Text 45"/>
          <p:cNvSpPr/>
          <p:nvPr/>
        </p:nvSpPr>
        <p:spPr>
          <a:xfrm>
            <a:off x="932688" y="5175504"/>
            <a:ext cx="5029200" cy="457200"/>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OOD probe, with code 25 as matched control</a:t>
            </a:r>
            <a:endParaRPr lang="en-US" sz="1150" dirty="0"/>
          </a:p>
        </p:txBody>
      </p:sp>
      <p:sp>
        <p:nvSpPr>
          <p:cNvPr id="48" name="Shape 46"/>
          <p:cNvSpPr/>
          <p:nvPr/>
        </p:nvSpPr>
        <p:spPr>
          <a:xfrm>
            <a:off x="6190488" y="4892040"/>
            <a:ext cx="73152" cy="777240"/>
          </a:xfrm>
          <a:prstGeom prst="roundRect">
            <a:avLst>
              <a:gd name="adj" fmla="val 37500"/>
            </a:avLst>
          </a:prstGeom>
          <a:solidFill>
            <a:srgbClr val="57457A"/>
          </a:solidFill>
          <a:ln w="12700">
            <a:solidFill>
              <a:srgbClr val="57457A"/>
            </a:solidFill>
            <a:prstDash val="solid"/>
          </a:ln>
        </p:spPr>
      </p:sp>
      <p:sp>
        <p:nvSpPr>
          <p:cNvPr id="49" name="Text 47"/>
          <p:cNvSpPr/>
          <p:nvPr/>
        </p:nvSpPr>
        <p:spPr>
          <a:xfrm>
            <a:off x="6464808" y="4846320"/>
            <a:ext cx="5029200" cy="292608"/>
          </a:xfrm>
          <a:prstGeom prst="rect">
            <a:avLst/>
          </a:prstGeom>
          <a:noFill/>
          <a:ln/>
        </p:spPr>
        <p:txBody>
          <a:bodyPr wrap="square" lIns="0" tIns="0" rIns="0" bIns="0" rtlCol="0" anchor="ctr"/>
          <a:lstStyle/>
          <a:p>
            <a:pPr indent="0" marL="0">
              <a:buNone/>
            </a:pPr>
            <a:r>
              <a:rPr lang="en-US" sz="1350" b="1" dirty="0">
                <a:solidFill>
                  <a:srgbClr val="141A21"/>
                </a:solidFill>
                <a:latin typeface="Cambria" pitchFamily="34" charset="0"/>
                <a:ea typeface="Cambria" pitchFamily="34" charset="-122"/>
                <a:cs typeface="Cambria" pitchFamily="34" charset="-120"/>
              </a:rPr>
              <a:t>Nadeau–Bengio test</a:t>
            </a:r>
            <a:endParaRPr lang="en-US" sz="1350" dirty="0"/>
          </a:p>
        </p:txBody>
      </p:sp>
      <p:sp>
        <p:nvSpPr>
          <p:cNvPr id="50" name="Text 48"/>
          <p:cNvSpPr/>
          <p:nvPr/>
        </p:nvSpPr>
        <p:spPr>
          <a:xfrm>
            <a:off x="6464808" y="5175504"/>
            <a:ext cx="5029200" cy="457200"/>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corrected for overlapping training folds</a:t>
            </a:r>
            <a:endParaRPr lang="en-US" sz="1150" dirty="0"/>
          </a:p>
        </p:txBody>
      </p:sp>
      <p:sp>
        <p:nvSpPr>
          <p:cNvPr id="51" name="Text 49"/>
          <p:cNvSpPr/>
          <p:nvPr/>
        </p:nvSpPr>
        <p:spPr>
          <a:xfrm>
            <a:off x="658368" y="5943600"/>
            <a:ext cx="10881360" cy="384048"/>
          </a:xfrm>
          <a:prstGeom prst="rect">
            <a:avLst/>
          </a:prstGeom>
          <a:noFill/>
          <a:ln/>
        </p:spPr>
        <p:txBody>
          <a:bodyPr wrap="square" lIns="0" tIns="0" rIns="0" bIns="0" rtlCol="0" anchor="ctr"/>
          <a:lstStyle/>
          <a:p>
            <a:pPr indent="0" marL="0">
              <a:buNone/>
            </a:pPr>
            <a:r>
              <a:rPr lang="en-US" sz="1150" dirty="0">
                <a:solidFill>
                  <a:srgbClr val="1F5C8B"/>
                </a:solidFill>
                <a:latin typeface="Calibri" pitchFamily="34" charset="0"/>
                <a:ea typeface="Calibri" pitchFamily="34" charset="-122"/>
                <a:cs typeface="Calibri" pitchFamily="34" charset="-120"/>
              </a:rPr>
              <a:t>A plain grouped split put 90 of the 98 high-hardness batches into one test fold. It was rebuilt to 22 / 6 / 6 before any modelling. Seed 42, PyTorch, single Tesla T4.</a:t>
            </a:r>
            <a:endParaRPr lang="en-US" sz="1150" dirty="0"/>
          </a:p>
        </p:txBody>
      </p:sp>
      <p:sp>
        <p:nvSpPr>
          <p:cNvPr id="52" name="Text 50"/>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
        <p:nvSpPr>
          <p:cNvPr id="53" name="Text 51"/>
          <p:cNvSpPr/>
          <p:nvPr/>
        </p:nvSpPr>
        <p:spPr>
          <a:xfrm>
            <a:off x="10954512" y="6400800"/>
            <a:ext cx="548640" cy="256032"/>
          </a:xfrm>
          <a:prstGeom prst="rect">
            <a:avLst/>
          </a:prstGeom>
          <a:noFill/>
          <a:ln/>
        </p:spPr>
        <p:txBody>
          <a:bodyPr wrap="square" lIns="0" tIns="0" rIns="0" bIns="0" rtlCol="0" anchor="ctr"/>
          <a:lstStyle/>
          <a:p>
            <a:pPr algn="r" indent="0" marL="0">
              <a:buNone/>
            </a:pPr>
            <a:r>
              <a:rPr lang="en-US" sz="950" dirty="0">
                <a:solidFill>
                  <a:srgbClr val="8A9099"/>
                </a:solidFill>
                <a:latin typeface="Courier New" pitchFamily="34" charset="0"/>
                <a:ea typeface="Courier New" pitchFamily="34" charset="-122"/>
                <a:cs typeface="Courier New" pitchFamily="34" charset="-120"/>
              </a:rPr>
              <a:t>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8368" y="347472"/>
            <a:ext cx="8229600" cy="237744"/>
          </a:xfrm>
          <a:prstGeom prst="rect">
            <a:avLst/>
          </a:prstGeom>
          <a:noFill/>
          <a:ln/>
        </p:spPr>
        <p:txBody>
          <a:bodyPr wrap="square" lIns="0" tIns="0" rIns="0" bIns="0" rtlCol="0" anchor="ctr"/>
          <a:lstStyle/>
          <a:p>
            <a:pPr indent="0" marL="0">
              <a:buNone/>
            </a:pPr>
            <a:r>
              <a:rPr lang="en-US" sz="1050" b="1" spc="200" kern="0" dirty="0">
                <a:solidFill>
                  <a:srgbClr val="1F5C8B"/>
                </a:solidFill>
                <a:latin typeface="Courier New" pitchFamily="34" charset="0"/>
                <a:ea typeface="Courier New" pitchFamily="34" charset="-122"/>
                <a:cs typeface="Courier New" pitchFamily="34" charset="-120"/>
              </a:rPr>
              <a:t>RESULTS  ·  RQ1 AND RQ2</a:t>
            </a:r>
            <a:endParaRPr lang="en-US" sz="1050" dirty="0"/>
          </a:p>
        </p:txBody>
      </p:sp>
      <p:sp>
        <p:nvSpPr>
          <p:cNvPr id="3" name="Text 1"/>
          <p:cNvSpPr/>
          <p:nvPr/>
        </p:nvSpPr>
        <p:spPr>
          <a:xfrm>
            <a:off x="658368" y="676656"/>
            <a:ext cx="10844784" cy="548640"/>
          </a:xfrm>
          <a:prstGeom prst="rect">
            <a:avLst/>
          </a:prstGeom>
          <a:noFill/>
          <a:ln/>
        </p:spPr>
        <p:txBody>
          <a:bodyPr wrap="square" lIns="0" tIns="0" rIns="0" bIns="0" rtlCol="0" anchor="t"/>
          <a:lstStyle/>
          <a:p>
            <a:pPr indent="0" marL="0">
              <a:buNone/>
            </a:pPr>
            <a:r>
              <a:rPr lang="en-US" sz="3000" b="1" dirty="0">
                <a:solidFill>
                  <a:srgbClr val="141A21"/>
                </a:solidFill>
                <a:latin typeface="Cambria" pitchFamily="34" charset="0"/>
                <a:ea typeface="Cambria" pitchFamily="34" charset="-122"/>
                <a:cs typeface="Cambria" pitchFamily="34" charset="-120"/>
              </a:rPr>
              <a:t>Accuracy against baselines, and the value of sharing</a:t>
            </a:r>
            <a:endParaRPr lang="en-US" sz="3000" dirty="0"/>
          </a:p>
        </p:txBody>
      </p:sp>
      <p:sp>
        <p:nvSpPr>
          <p:cNvPr id="4" name="Text 2"/>
          <p:cNvSpPr/>
          <p:nvPr/>
        </p:nvSpPr>
        <p:spPr>
          <a:xfrm>
            <a:off x="658368" y="1965960"/>
            <a:ext cx="5852160" cy="219456"/>
          </a:xfrm>
          <a:prstGeom prst="rect">
            <a:avLst/>
          </a:prstGeom>
          <a:noFill/>
          <a:ln/>
        </p:spPr>
        <p:txBody>
          <a:bodyPr wrap="square" lIns="0" tIns="0" rIns="0" bIns="0" rtlCol="0" anchor="ctr"/>
          <a:lstStyle/>
          <a:p>
            <a:pPr indent="0" marL="0">
              <a:buNone/>
            </a:pPr>
            <a:r>
              <a:rPr lang="en-US" sz="850" spc="120" kern="0" dirty="0">
                <a:solidFill>
                  <a:srgbClr val="8A9099"/>
                </a:solidFill>
                <a:latin typeface="Courier New" pitchFamily="34" charset="0"/>
                <a:ea typeface="Courier New" pitchFamily="34" charset="-122"/>
                <a:cs typeface="Courier New" pitchFamily="34" charset="-120"/>
              </a:rPr>
              <a:t>RQ1  ·  AGAINST ENGINEERED-FEATURE BASELINES</a:t>
            </a:r>
            <a:endParaRPr lang="en-US" sz="850" dirty="0"/>
          </a:p>
        </p:txBody>
      </p:sp>
      <p:sp>
        <p:nvSpPr>
          <p:cNvPr id="5" name="Shape 3"/>
          <p:cNvSpPr/>
          <p:nvPr/>
        </p:nvSpPr>
        <p:spPr>
          <a:xfrm>
            <a:off x="658368" y="2286000"/>
            <a:ext cx="5760720" cy="603504"/>
          </a:xfrm>
          <a:prstGeom prst="roundRect">
            <a:avLst>
              <a:gd name="adj" fmla="val 9091"/>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6" name="Text 4"/>
          <p:cNvSpPr/>
          <p:nvPr/>
        </p:nvSpPr>
        <p:spPr>
          <a:xfrm>
            <a:off x="877824" y="2286000"/>
            <a:ext cx="1691640" cy="603504"/>
          </a:xfrm>
          <a:prstGeom prst="rect">
            <a:avLst/>
          </a:prstGeom>
          <a:noFill/>
          <a:ln/>
        </p:spPr>
        <p:txBody>
          <a:bodyPr wrap="square" lIns="0" tIns="0" rIns="0" bIns="0" rtlCol="0" anchor="ctr"/>
          <a:lstStyle/>
          <a:p>
            <a:pPr indent="0" marL="0">
              <a:buNone/>
            </a:pPr>
            <a:r>
              <a:rPr lang="en-US" sz="1200" b="1" dirty="0">
                <a:solidFill>
                  <a:srgbClr val="141A21"/>
                </a:solidFill>
                <a:latin typeface="Calibri" pitchFamily="34" charset="0"/>
                <a:ea typeface="Calibri" pitchFamily="34" charset="-122"/>
                <a:cs typeface="Calibri" pitchFamily="34" charset="-120"/>
              </a:rPr>
              <a:t>Dissolution</a:t>
            </a:r>
            <a:endParaRPr lang="en-US" sz="1200" dirty="0"/>
          </a:p>
        </p:txBody>
      </p:sp>
      <p:sp>
        <p:nvSpPr>
          <p:cNvPr id="7" name="Text 5"/>
          <p:cNvSpPr/>
          <p:nvPr/>
        </p:nvSpPr>
        <p:spPr>
          <a:xfrm>
            <a:off x="2578608" y="2286000"/>
            <a:ext cx="1051560" cy="603504"/>
          </a:xfrm>
          <a:prstGeom prst="rect">
            <a:avLst/>
          </a:prstGeom>
          <a:noFill/>
          <a:ln/>
        </p:spPr>
        <p:txBody>
          <a:bodyPr wrap="square" lIns="0" tIns="0" rIns="0" bIns="0" rtlCol="0" anchor="ctr"/>
          <a:lstStyle/>
          <a:p>
            <a:pPr indent="0" marL="0">
              <a:buNone/>
            </a:pPr>
            <a:r>
              <a:rPr lang="en-US" sz="1700" b="1" dirty="0">
                <a:solidFill>
                  <a:srgbClr val="1F6F55"/>
                </a:solidFill>
                <a:latin typeface="Cambria" pitchFamily="34" charset="0"/>
                <a:ea typeface="Cambria" pitchFamily="34" charset="-122"/>
                <a:cs typeface="Cambria" pitchFamily="34" charset="-120"/>
              </a:rPr>
              <a:t>+2.8%</a:t>
            </a:r>
            <a:endParaRPr lang="en-US" sz="1700" dirty="0"/>
          </a:p>
        </p:txBody>
      </p:sp>
      <p:sp>
        <p:nvSpPr>
          <p:cNvPr id="8" name="Text 6"/>
          <p:cNvSpPr/>
          <p:nvPr/>
        </p:nvSpPr>
        <p:spPr>
          <a:xfrm>
            <a:off x="3721608" y="2286000"/>
            <a:ext cx="2606040" cy="603504"/>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level with the best baseline</a:t>
            </a:r>
            <a:endParaRPr lang="en-US" sz="1050" dirty="0"/>
          </a:p>
        </p:txBody>
      </p:sp>
      <p:sp>
        <p:nvSpPr>
          <p:cNvPr id="9" name="Shape 7"/>
          <p:cNvSpPr/>
          <p:nvPr/>
        </p:nvSpPr>
        <p:spPr>
          <a:xfrm>
            <a:off x="658368" y="2999232"/>
            <a:ext cx="5760720" cy="603504"/>
          </a:xfrm>
          <a:prstGeom prst="roundRect">
            <a:avLst>
              <a:gd name="adj" fmla="val 9091"/>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10" name="Text 8"/>
          <p:cNvSpPr/>
          <p:nvPr/>
        </p:nvSpPr>
        <p:spPr>
          <a:xfrm>
            <a:off x="877824" y="2999232"/>
            <a:ext cx="1691640" cy="603504"/>
          </a:xfrm>
          <a:prstGeom prst="rect">
            <a:avLst/>
          </a:prstGeom>
          <a:noFill/>
          <a:ln/>
        </p:spPr>
        <p:txBody>
          <a:bodyPr wrap="square" lIns="0" tIns="0" rIns="0" bIns="0" rtlCol="0" anchor="ctr"/>
          <a:lstStyle/>
          <a:p>
            <a:pPr indent="0" marL="0">
              <a:buNone/>
            </a:pPr>
            <a:r>
              <a:rPr lang="en-US" sz="1200" b="1" dirty="0">
                <a:solidFill>
                  <a:srgbClr val="141A21"/>
                </a:solidFill>
                <a:latin typeface="Calibri" pitchFamily="34" charset="0"/>
                <a:ea typeface="Calibri" pitchFamily="34" charset="-122"/>
                <a:cs typeface="Calibri" pitchFamily="34" charset="-120"/>
              </a:rPr>
              <a:t>Weight RSD</a:t>
            </a:r>
            <a:endParaRPr lang="en-US" sz="1200" dirty="0"/>
          </a:p>
        </p:txBody>
      </p:sp>
      <p:sp>
        <p:nvSpPr>
          <p:cNvPr id="11" name="Text 9"/>
          <p:cNvSpPr/>
          <p:nvPr/>
        </p:nvSpPr>
        <p:spPr>
          <a:xfrm>
            <a:off x="2578608" y="2999232"/>
            <a:ext cx="1051560" cy="603504"/>
          </a:xfrm>
          <a:prstGeom prst="rect">
            <a:avLst/>
          </a:prstGeom>
          <a:noFill/>
          <a:ln/>
        </p:spPr>
        <p:txBody>
          <a:bodyPr wrap="square" lIns="0" tIns="0" rIns="0" bIns="0" rtlCol="0" anchor="ctr"/>
          <a:lstStyle/>
          <a:p>
            <a:pPr indent="0" marL="0">
              <a:buNone/>
            </a:pPr>
            <a:r>
              <a:rPr lang="en-US" sz="1700" b="1" dirty="0">
                <a:solidFill>
                  <a:srgbClr val="1F6F55"/>
                </a:solidFill>
                <a:latin typeface="Cambria" pitchFamily="34" charset="0"/>
                <a:ea typeface="Cambria" pitchFamily="34" charset="-122"/>
                <a:cs typeface="Cambria" pitchFamily="34" charset="-120"/>
              </a:rPr>
              <a:t>+5.0%</a:t>
            </a:r>
            <a:endParaRPr lang="en-US" sz="1700" dirty="0"/>
          </a:p>
        </p:txBody>
      </p:sp>
      <p:sp>
        <p:nvSpPr>
          <p:cNvPr id="12" name="Text 10"/>
          <p:cNvSpPr/>
          <p:nvPr/>
        </p:nvSpPr>
        <p:spPr>
          <a:xfrm>
            <a:off x="3721608" y="2999232"/>
            <a:ext cx="2606040" cy="603504"/>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level with the best baseline</a:t>
            </a:r>
            <a:endParaRPr lang="en-US" sz="1050" dirty="0"/>
          </a:p>
        </p:txBody>
      </p:sp>
      <p:sp>
        <p:nvSpPr>
          <p:cNvPr id="13" name="Shape 11"/>
          <p:cNvSpPr/>
          <p:nvPr/>
        </p:nvSpPr>
        <p:spPr>
          <a:xfrm>
            <a:off x="658368" y="3712464"/>
            <a:ext cx="5760720" cy="603504"/>
          </a:xfrm>
          <a:prstGeom prst="roundRect">
            <a:avLst>
              <a:gd name="adj" fmla="val 9091"/>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14" name="Text 12"/>
          <p:cNvSpPr/>
          <p:nvPr/>
        </p:nvSpPr>
        <p:spPr>
          <a:xfrm>
            <a:off x="877824" y="3712464"/>
            <a:ext cx="1691640" cy="603504"/>
          </a:xfrm>
          <a:prstGeom prst="rect">
            <a:avLst/>
          </a:prstGeom>
          <a:noFill/>
          <a:ln/>
        </p:spPr>
        <p:txBody>
          <a:bodyPr wrap="square" lIns="0" tIns="0" rIns="0" bIns="0" rtlCol="0" anchor="ctr"/>
          <a:lstStyle/>
          <a:p>
            <a:pPr indent="0" marL="0">
              <a:buNone/>
            </a:pPr>
            <a:r>
              <a:rPr lang="en-US" sz="1200" b="1" dirty="0">
                <a:solidFill>
                  <a:srgbClr val="141A21"/>
                </a:solidFill>
                <a:latin typeface="Calibri" pitchFamily="34" charset="0"/>
                <a:ea typeface="Calibri" pitchFamily="34" charset="-122"/>
                <a:cs typeface="Calibri" pitchFamily="34" charset="-120"/>
              </a:rPr>
              <a:t>Tensile</a:t>
            </a:r>
            <a:endParaRPr lang="en-US" sz="1200" dirty="0"/>
          </a:p>
        </p:txBody>
      </p:sp>
      <p:sp>
        <p:nvSpPr>
          <p:cNvPr id="15" name="Text 13"/>
          <p:cNvSpPr/>
          <p:nvPr/>
        </p:nvSpPr>
        <p:spPr>
          <a:xfrm>
            <a:off x="2578608" y="3712464"/>
            <a:ext cx="1051560" cy="603504"/>
          </a:xfrm>
          <a:prstGeom prst="rect">
            <a:avLst/>
          </a:prstGeom>
          <a:noFill/>
          <a:ln/>
        </p:spPr>
        <p:txBody>
          <a:bodyPr wrap="square" lIns="0" tIns="0" rIns="0" bIns="0" rtlCol="0" anchor="ctr"/>
          <a:lstStyle/>
          <a:p>
            <a:pPr indent="0" marL="0">
              <a:buNone/>
            </a:pPr>
            <a:r>
              <a:rPr lang="en-US" sz="1700" b="1" dirty="0">
                <a:solidFill>
                  <a:srgbClr val="AD6425"/>
                </a:solidFill>
                <a:latin typeface="Cambria" pitchFamily="34" charset="0"/>
                <a:ea typeface="Cambria" pitchFamily="34" charset="-122"/>
                <a:cs typeface="Cambria" pitchFamily="34" charset="-120"/>
              </a:rPr>
              <a:t>+28%</a:t>
            </a:r>
            <a:endParaRPr lang="en-US" sz="1700" dirty="0"/>
          </a:p>
        </p:txBody>
      </p:sp>
      <p:sp>
        <p:nvSpPr>
          <p:cNvPr id="16" name="Text 14"/>
          <p:cNvSpPr/>
          <p:nvPr/>
        </p:nvSpPr>
        <p:spPr>
          <a:xfrm>
            <a:off x="3721608" y="3712464"/>
            <a:ext cx="2606040" cy="603504"/>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behind, not significant</a:t>
            </a:r>
            <a:endParaRPr lang="en-US" sz="1050" dirty="0"/>
          </a:p>
        </p:txBody>
      </p:sp>
      <p:sp>
        <p:nvSpPr>
          <p:cNvPr id="17" name="Shape 15"/>
          <p:cNvSpPr/>
          <p:nvPr/>
        </p:nvSpPr>
        <p:spPr>
          <a:xfrm>
            <a:off x="658368" y="4425696"/>
            <a:ext cx="5760720" cy="603504"/>
          </a:xfrm>
          <a:prstGeom prst="roundRect">
            <a:avLst>
              <a:gd name="adj" fmla="val 9091"/>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18" name="Text 16"/>
          <p:cNvSpPr/>
          <p:nvPr/>
        </p:nvSpPr>
        <p:spPr>
          <a:xfrm>
            <a:off x="877824" y="4425696"/>
            <a:ext cx="1691640" cy="603504"/>
          </a:xfrm>
          <a:prstGeom prst="rect">
            <a:avLst/>
          </a:prstGeom>
          <a:noFill/>
          <a:ln/>
        </p:spPr>
        <p:txBody>
          <a:bodyPr wrap="square" lIns="0" tIns="0" rIns="0" bIns="0" rtlCol="0" anchor="ctr"/>
          <a:lstStyle/>
          <a:p>
            <a:pPr indent="0" marL="0">
              <a:buNone/>
            </a:pPr>
            <a:r>
              <a:rPr lang="en-US" sz="1200" b="1" dirty="0">
                <a:solidFill>
                  <a:srgbClr val="141A21"/>
                </a:solidFill>
                <a:latin typeface="Calibri" pitchFamily="34" charset="0"/>
                <a:ea typeface="Calibri" pitchFamily="34" charset="-122"/>
                <a:cs typeface="Calibri" pitchFamily="34" charset="-120"/>
              </a:rPr>
              <a:t>Hardness</a:t>
            </a:r>
            <a:endParaRPr lang="en-US" sz="1200" dirty="0"/>
          </a:p>
        </p:txBody>
      </p:sp>
      <p:sp>
        <p:nvSpPr>
          <p:cNvPr id="19" name="Text 17"/>
          <p:cNvSpPr/>
          <p:nvPr/>
        </p:nvSpPr>
        <p:spPr>
          <a:xfrm>
            <a:off x="2578608" y="4425696"/>
            <a:ext cx="1051560" cy="603504"/>
          </a:xfrm>
          <a:prstGeom prst="rect">
            <a:avLst/>
          </a:prstGeom>
          <a:noFill/>
          <a:ln/>
        </p:spPr>
        <p:txBody>
          <a:bodyPr wrap="square" lIns="0" tIns="0" rIns="0" bIns="0" rtlCol="0" anchor="ctr"/>
          <a:lstStyle/>
          <a:p>
            <a:pPr indent="0" marL="0">
              <a:buNone/>
            </a:pPr>
            <a:r>
              <a:rPr lang="en-US" sz="1700" b="1" dirty="0">
                <a:solidFill>
                  <a:srgbClr val="AD6425"/>
                </a:solidFill>
                <a:latin typeface="Cambria" pitchFamily="34" charset="0"/>
                <a:ea typeface="Cambria" pitchFamily="34" charset="-122"/>
                <a:cs typeface="Cambria" pitchFamily="34" charset="-120"/>
              </a:rPr>
              <a:t>+63%</a:t>
            </a:r>
            <a:endParaRPr lang="en-US" sz="1700" dirty="0"/>
          </a:p>
        </p:txBody>
      </p:sp>
      <p:sp>
        <p:nvSpPr>
          <p:cNvPr id="20" name="Text 18"/>
          <p:cNvSpPr/>
          <p:nvPr/>
        </p:nvSpPr>
        <p:spPr>
          <a:xfrm>
            <a:off x="3721608" y="4425696"/>
            <a:ext cx="2606040" cy="603504"/>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behind, and significant (p = 0.015)</a:t>
            </a:r>
            <a:endParaRPr lang="en-US" sz="1050" dirty="0"/>
          </a:p>
        </p:txBody>
      </p:sp>
      <p:sp>
        <p:nvSpPr>
          <p:cNvPr id="21" name="Text 19"/>
          <p:cNvSpPr/>
          <p:nvPr/>
        </p:nvSpPr>
        <p:spPr>
          <a:xfrm>
            <a:off x="658368" y="5230368"/>
            <a:ext cx="5760720" cy="548640"/>
          </a:xfrm>
          <a:prstGeom prst="rect">
            <a:avLst/>
          </a:prstGeom>
          <a:noFill/>
          <a:ln/>
        </p:spPr>
        <p:txBody>
          <a:bodyPr wrap="square" lIns="0" tIns="0" rIns="0" bIns="0" rtlCol="0" anchor="ctr"/>
          <a:lstStyle/>
          <a:p>
            <a:pPr indent="0" marL="0">
              <a:buNone/>
            </a:pPr>
            <a:r>
              <a:rPr lang="en-US" sz="1100" i="1" dirty="0">
                <a:solidFill>
                  <a:srgbClr val="1F5C8B"/>
                </a:solidFill>
                <a:latin typeface="Calibri" pitchFamily="34" charset="0"/>
                <a:ea typeface="Calibri" pitchFamily="34" charset="-122"/>
                <a:cs typeface="Calibri" pitchFamily="34" charset="-120"/>
              </a:rPr>
              <a:t>Not a uniformly more accurate model. The one comparison reaching significance is the one where my model loses. With three folds the others are inconclusive, not equal.</a:t>
            </a:r>
            <a:endParaRPr lang="en-US" sz="1100" dirty="0"/>
          </a:p>
        </p:txBody>
      </p:sp>
      <p:sp>
        <p:nvSpPr>
          <p:cNvPr id="22" name="Text 20"/>
          <p:cNvSpPr/>
          <p:nvPr/>
        </p:nvSpPr>
        <p:spPr>
          <a:xfrm>
            <a:off x="6720840" y="1965960"/>
            <a:ext cx="4846320" cy="219456"/>
          </a:xfrm>
          <a:prstGeom prst="rect">
            <a:avLst/>
          </a:prstGeom>
          <a:noFill/>
          <a:ln/>
        </p:spPr>
        <p:txBody>
          <a:bodyPr wrap="square" lIns="0" tIns="0" rIns="0" bIns="0" rtlCol="0" anchor="ctr"/>
          <a:lstStyle/>
          <a:p>
            <a:pPr indent="0" marL="0">
              <a:buNone/>
            </a:pPr>
            <a:r>
              <a:rPr lang="en-US" sz="850" spc="120" kern="0" dirty="0">
                <a:solidFill>
                  <a:srgbClr val="8A9099"/>
                </a:solidFill>
                <a:latin typeface="Courier New" pitchFamily="34" charset="0"/>
                <a:ea typeface="Courier New" pitchFamily="34" charset="-122"/>
                <a:cs typeface="Courier New" pitchFamily="34" charset="-120"/>
              </a:rPr>
              <a:t>RQ2  ·  ONE SHARED MODEL AGAINST FOUR SEPARATE ONES</a:t>
            </a:r>
            <a:endParaRPr lang="en-US" sz="850" dirty="0"/>
          </a:p>
        </p:txBody>
      </p:sp>
      <p:pic>
        <p:nvPicPr>
          <p:cNvPr id="23" name="Image 0" descr="img/fig8_multitask_vs_singletask.png">    </p:cNvPr>
          <p:cNvPicPr>
            <a:picLocks noChangeAspect="1"/>
          </p:cNvPicPr>
          <p:nvPr/>
        </p:nvPicPr>
        <p:blipFill>
          <a:blip r:embed="rId1"/>
          <a:stretch>
            <a:fillRect/>
          </a:stretch>
        </p:blipFill>
        <p:spPr>
          <a:xfrm>
            <a:off x="6720840" y="2240280"/>
            <a:ext cx="4818888" cy="2148840"/>
          </a:xfrm>
          <a:prstGeom prst="rect">
            <a:avLst/>
          </a:prstGeom>
        </p:spPr>
      </p:pic>
      <p:sp>
        <p:nvSpPr>
          <p:cNvPr id="24" name="Shape 21"/>
          <p:cNvSpPr/>
          <p:nvPr/>
        </p:nvSpPr>
        <p:spPr>
          <a:xfrm>
            <a:off x="6720840" y="4526280"/>
            <a:ext cx="2331720" cy="1234440"/>
          </a:xfrm>
          <a:prstGeom prst="roundRect">
            <a:avLst>
              <a:gd name="adj" fmla="val 4444"/>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25" name="Text 22"/>
          <p:cNvSpPr/>
          <p:nvPr/>
        </p:nvSpPr>
        <p:spPr>
          <a:xfrm>
            <a:off x="6931152" y="4681728"/>
            <a:ext cx="2011680" cy="384048"/>
          </a:xfrm>
          <a:prstGeom prst="rect">
            <a:avLst/>
          </a:prstGeom>
          <a:noFill/>
          <a:ln/>
        </p:spPr>
        <p:txBody>
          <a:bodyPr wrap="square" lIns="0" tIns="0" rIns="0" bIns="0" rtlCol="0" anchor="ctr"/>
          <a:lstStyle/>
          <a:p>
            <a:pPr indent="0" marL="0">
              <a:buNone/>
            </a:pPr>
            <a:r>
              <a:rPr lang="en-US" sz="2000" b="1" dirty="0">
                <a:solidFill>
                  <a:srgbClr val="1F5C8B"/>
                </a:solidFill>
                <a:latin typeface="Cambria" pitchFamily="34" charset="0"/>
                <a:ea typeface="Cambria" pitchFamily="34" charset="-122"/>
                <a:cs typeface="Cambria" pitchFamily="34" charset="-120"/>
              </a:rPr>
              <a:t>384,400</a:t>
            </a:r>
            <a:endParaRPr lang="en-US" sz="2000" dirty="0"/>
          </a:p>
        </p:txBody>
      </p:sp>
      <p:sp>
        <p:nvSpPr>
          <p:cNvPr id="26" name="Text 23"/>
          <p:cNvSpPr/>
          <p:nvPr/>
        </p:nvSpPr>
        <p:spPr>
          <a:xfrm>
            <a:off x="6931152" y="5084064"/>
            <a:ext cx="2011680" cy="548640"/>
          </a:xfrm>
          <a:prstGeom prst="rect">
            <a:avLst/>
          </a:prstGeom>
          <a:noFill/>
          <a:ln/>
        </p:spPr>
        <p:txBody>
          <a:bodyPr wrap="square" lIns="0" tIns="0" rIns="0" bIns="0" rtlCol="0" anchor="ctr"/>
          <a:lstStyle/>
          <a:p>
            <a:pPr indent="0" marL="0">
              <a:buNone/>
            </a:pPr>
            <a:r>
              <a:rPr lang="en-US" sz="1000" dirty="0">
                <a:solidFill>
                  <a:srgbClr val="565D67"/>
                </a:solidFill>
                <a:latin typeface="Calibri" pitchFamily="34" charset="0"/>
                <a:ea typeface="Calibri" pitchFamily="34" charset="-122"/>
                <a:cs typeface="Calibri" pitchFamily="34" charset="-120"/>
              </a:rPr>
              <a:t>shared model parameters</a:t>
            </a:r>
            <a:endParaRPr lang="en-US" sz="1000" dirty="0"/>
          </a:p>
        </p:txBody>
      </p:sp>
      <p:sp>
        <p:nvSpPr>
          <p:cNvPr id="27" name="Shape 24"/>
          <p:cNvSpPr/>
          <p:nvPr/>
        </p:nvSpPr>
        <p:spPr>
          <a:xfrm>
            <a:off x="9208008" y="4526280"/>
            <a:ext cx="2331720" cy="1234440"/>
          </a:xfrm>
          <a:prstGeom prst="roundRect">
            <a:avLst>
              <a:gd name="adj" fmla="val 4444"/>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28" name="Text 25"/>
          <p:cNvSpPr/>
          <p:nvPr/>
        </p:nvSpPr>
        <p:spPr>
          <a:xfrm>
            <a:off x="9418320" y="4681728"/>
            <a:ext cx="2011680" cy="384048"/>
          </a:xfrm>
          <a:prstGeom prst="rect">
            <a:avLst/>
          </a:prstGeom>
          <a:noFill/>
          <a:ln/>
        </p:spPr>
        <p:txBody>
          <a:bodyPr wrap="square" lIns="0" tIns="0" rIns="0" bIns="0" rtlCol="0" anchor="ctr"/>
          <a:lstStyle/>
          <a:p>
            <a:pPr indent="0" marL="0">
              <a:buNone/>
            </a:pPr>
            <a:r>
              <a:rPr lang="en-US" sz="2000" b="1" dirty="0">
                <a:solidFill>
                  <a:srgbClr val="565D67"/>
                </a:solidFill>
                <a:latin typeface="Cambria" pitchFamily="34" charset="0"/>
                <a:ea typeface="Cambria" pitchFamily="34" charset="-122"/>
                <a:cs typeface="Cambria" pitchFamily="34" charset="-120"/>
              </a:rPr>
              <a:t>1,435,408</a:t>
            </a:r>
            <a:endParaRPr lang="en-US" sz="2000" dirty="0"/>
          </a:p>
        </p:txBody>
      </p:sp>
      <p:sp>
        <p:nvSpPr>
          <p:cNvPr id="29" name="Text 26"/>
          <p:cNvSpPr/>
          <p:nvPr/>
        </p:nvSpPr>
        <p:spPr>
          <a:xfrm>
            <a:off x="9418320" y="5084064"/>
            <a:ext cx="2011680" cy="548640"/>
          </a:xfrm>
          <a:prstGeom prst="rect">
            <a:avLst/>
          </a:prstGeom>
          <a:noFill/>
          <a:ln/>
        </p:spPr>
        <p:txBody>
          <a:bodyPr wrap="square" lIns="0" tIns="0" rIns="0" bIns="0" rtlCol="0" anchor="ctr"/>
          <a:lstStyle/>
          <a:p>
            <a:pPr indent="0" marL="0">
              <a:buNone/>
            </a:pPr>
            <a:r>
              <a:rPr lang="en-US" sz="1000" dirty="0">
                <a:solidFill>
                  <a:srgbClr val="565D67"/>
                </a:solidFill>
                <a:latin typeface="Calibri" pitchFamily="34" charset="0"/>
                <a:ea typeface="Calibri" pitchFamily="34" charset="-122"/>
                <a:cs typeface="Calibri" pitchFamily="34" charset="-120"/>
              </a:rPr>
              <a:t>four separate networks, 3.73× larger</a:t>
            </a:r>
            <a:endParaRPr lang="en-US" sz="1000" dirty="0"/>
          </a:p>
        </p:txBody>
      </p:sp>
      <p:sp>
        <p:nvSpPr>
          <p:cNvPr id="30" name="Text 27"/>
          <p:cNvSpPr/>
          <p:nvPr/>
        </p:nvSpPr>
        <p:spPr>
          <a:xfrm>
            <a:off x="6720840" y="5852160"/>
            <a:ext cx="4818888" cy="457200"/>
          </a:xfrm>
          <a:prstGeom prst="rect">
            <a:avLst/>
          </a:prstGeom>
          <a:noFill/>
          <a:ln/>
        </p:spPr>
        <p:txBody>
          <a:bodyPr wrap="square" lIns="0" tIns="0" rIns="0" bIns="0" rtlCol="0" anchor="ctr"/>
          <a:lstStyle/>
          <a:p>
            <a:pPr indent="0" marL="0">
              <a:buNone/>
            </a:pPr>
            <a:r>
              <a:rPr lang="en-US" sz="1100" b="1" dirty="0">
                <a:solidFill>
                  <a:srgbClr val="1F6F55"/>
                </a:solidFill>
                <a:latin typeface="Calibri" pitchFamily="34" charset="0"/>
                <a:ea typeface="Calibri" pitchFamily="34" charset="-122"/>
                <a:cs typeface="Calibri" pitchFamily="34" charset="-120"/>
              </a:rPr>
              <a:t>Better on all four targets, significantly on dissolution (p = 0.012). Sharing costs nothing and saves a great deal.</a:t>
            </a:r>
            <a:endParaRPr lang="en-US" sz="1100" dirty="0"/>
          </a:p>
        </p:txBody>
      </p:sp>
      <p:sp>
        <p:nvSpPr>
          <p:cNvPr id="31" name="Text 28"/>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
        <p:nvSpPr>
          <p:cNvPr id="32" name="Text 29"/>
          <p:cNvSpPr/>
          <p:nvPr/>
        </p:nvSpPr>
        <p:spPr>
          <a:xfrm>
            <a:off x="10954512" y="6400800"/>
            <a:ext cx="548640" cy="256032"/>
          </a:xfrm>
          <a:prstGeom prst="rect">
            <a:avLst/>
          </a:prstGeom>
          <a:noFill/>
          <a:ln/>
        </p:spPr>
        <p:txBody>
          <a:bodyPr wrap="square" lIns="0" tIns="0" rIns="0" bIns="0" rtlCol="0" anchor="ctr"/>
          <a:lstStyle/>
          <a:p>
            <a:pPr algn="r" indent="0" marL="0">
              <a:buNone/>
            </a:pPr>
            <a:r>
              <a:rPr lang="en-US" sz="950" dirty="0">
                <a:solidFill>
                  <a:srgbClr val="8A9099"/>
                </a:solidFill>
                <a:latin typeface="Courier New" pitchFamily="34" charset="0"/>
                <a:ea typeface="Courier New" pitchFamily="34" charset="-122"/>
                <a:cs typeface="Courier New" pitchFamily="34" charset="-120"/>
              </a:rPr>
              <a:t>6</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8368" y="347472"/>
            <a:ext cx="8229600" cy="237744"/>
          </a:xfrm>
          <a:prstGeom prst="rect">
            <a:avLst/>
          </a:prstGeom>
          <a:noFill/>
          <a:ln/>
        </p:spPr>
        <p:txBody>
          <a:bodyPr wrap="square" lIns="0" tIns="0" rIns="0" bIns="0" rtlCol="0" anchor="ctr"/>
          <a:lstStyle/>
          <a:p>
            <a:pPr indent="0" marL="0">
              <a:buNone/>
            </a:pPr>
            <a:r>
              <a:rPr lang="en-US" sz="1050" b="1" spc="200" kern="0" dirty="0">
                <a:solidFill>
                  <a:srgbClr val="1F5C8B"/>
                </a:solidFill>
                <a:latin typeface="Courier New" pitchFamily="34" charset="0"/>
                <a:ea typeface="Courier New" pitchFamily="34" charset="-122"/>
                <a:cs typeface="Courier New" pitchFamily="34" charset="-120"/>
              </a:rPr>
              <a:t>RESULTS  ·  RQ3a</a:t>
            </a:r>
            <a:endParaRPr lang="en-US" sz="1050" dirty="0"/>
          </a:p>
        </p:txBody>
      </p:sp>
      <p:sp>
        <p:nvSpPr>
          <p:cNvPr id="3" name="Text 1"/>
          <p:cNvSpPr/>
          <p:nvPr/>
        </p:nvSpPr>
        <p:spPr>
          <a:xfrm>
            <a:off x="658368" y="676656"/>
            <a:ext cx="10844784" cy="548640"/>
          </a:xfrm>
          <a:prstGeom prst="rect">
            <a:avLst/>
          </a:prstGeom>
          <a:noFill/>
          <a:ln/>
        </p:spPr>
        <p:txBody>
          <a:bodyPr wrap="square" lIns="0" tIns="0" rIns="0" bIns="0" rtlCol="0" anchor="t"/>
          <a:lstStyle/>
          <a:p>
            <a:pPr indent="0" marL="0">
              <a:buNone/>
            </a:pPr>
            <a:r>
              <a:rPr lang="en-US" sz="3000" b="1" dirty="0">
                <a:solidFill>
                  <a:srgbClr val="141A21"/>
                </a:solidFill>
                <a:latin typeface="Cambria" pitchFamily="34" charset="0"/>
                <a:ea typeface="Cambria" pitchFamily="34" charset="-122"/>
                <a:cs typeface="Cambria" pitchFamily="34" charset="-120"/>
              </a:rPr>
              <a:t>Calibrated, and it notices when the product changes</a:t>
            </a:r>
            <a:endParaRPr lang="en-US" sz="3000" dirty="0"/>
          </a:p>
        </p:txBody>
      </p:sp>
      <p:sp>
        <p:nvSpPr>
          <p:cNvPr id="4" name="Text 2"/>
          <p:cNvSpPr/>
          <p:nvPr/>
        </p:nvSpPr>
        <p:spPr>
          <a:xfrm>
            <a:off x="658368" y="1298448"/>
            <a:ext cx="10570464" cy="347472"/>
          </a:xfrm>
          <a:prstGeom prst="rect">
            <a:avLst/>
          </a:prstGeom>
          <a:noFill/>
          <a:ln/>
        </p:spPr>
        <p:txBody>
          <a:bodyPr wrap="square" lIns="0" tIns="0" rIns="0" bIns="0" rtlCol="0" anchor="ctr"/>
          <a:lstStyle/>
          <a:p>
            <a:pPr indent="0" marL="0">
              <a:buNone/>
            </a:pPr>
            <a:r>
              <a:rPr lang="en-US" sz="1400" dirty="0">
                <a:solidFill>
                  <a:srgbClr val="565D67"/>
                </a:solidFill>
                <a:latin typeface="Calibri" pitchFamily="34" charset="0"/>
                <a:ea typeface="Calibri" pitchFamily="34" charset="-122"/>
                <a:cs typeface="Calibri" pitchFamily="34" charset="-120"/>
              </a:rPr>
              <a:t>Two product codes were withheld from training. Only one of them costs anything.</a:t>
            </a:r>
            <a:endParaRPr lang="en-US" sz="1400" dirty="0"/>
          </a:p>
        </p:txBody>
      </p:sp>
      <p:pic>
        <p:nvPicPr>
          <p:cNvPr id="5" name="Image 0" descr="img/fig7_calibration.png">    </p:cNvPr>
          <p:cNvPicPr>
            <a:picLocks noChangeAspect="1"/>
          </p:cNvPicPr>
          <p:nvPr/>
        </p:nvPicPr>
        <p:blipFill>
          <a:blip r:embed="rId1"/>
          <a:stretch>
            <a:fillRect/>
          </a:stretch>
        </p:blipFill>
        <p:spPr>
          <a:xfrm>
            <a:off x="658368" y="2103120"/>
            <a:ext cx="4754880" cy="3291840"/>
          </a:xfrm>
          <a:prstGeom prst="rect">
            <a:avLst/>
          </a:prstGeom>
        </p:spPr>
      </p:pic>
      <p:sp>
        <p:nvSpPr>
          <p:cNvPr id="6" name="Shape 3"/>
          <p:cNvSpPr/>
          <p:nvPr/>
        </p:nvSpPr>
        <p:spPr>
          <a:xfrm>
            <a:off x="5806440" y="2148840"/>
            <a:ext cx="5715000" cy="960120"/>
          </a:xfrm>
          <a:prstGeom prst="roundRect">
            <a:avLst>
              <a:gd name="adj" fmla="val 5714"/>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7" name="Text 4"/>
          <p:cNvSpPr/>
          <p:nvPr/>
        </p:nvSpPr>
        <p:spPr>
          <a:xfrm>
            <a:off x="6035040" y="2267712"/>
            <a:ext cx="3657600" cy="292608"/>
          </a:xfrm>
          <a:prstGeom prst="rect">
            <a:avLst/>
          </a:prstGeom>
          <a:noFill/>
          <a:ln/>
        </p:spPr>
        <p:txBody>
          <a:bodyPr wrap="square" lIns="0" tIns="0" rIns="0" bIns="0" rtlCol="0" anchor="ctr"/>
          <a:lstStyle/>
          <a:p>
            <a:pPr indent="0" marL="0">
              <a:buNone/>
            </a:pPr>
            <a:r>
              <a:rPr lang="en-US" sz="1250" b="1" dirty="0">
                <a:solidFill>
                  <a:srgbClr val="141A21"/>
                </a:solidFill>
                <a:latin typeface="Calibri" pitchFamily="34" charset="0"/>
                <a:ea typeface="Calibri" pitchFamily="34" charset="-122"/>
                <a:cs typeface="Calibri" pitchFamily="34" charset="-120"/>
              </a:rPr>
              <a:t>Seen products</a:t>
            </a:r>
            <a:endParaRPr lang="en-US" sz="1250" dirty="0"/>
          </a:p>
        </p:txBody>
      </p:sp>
      <p:sp>
        <p:nvSpPr>
          <p:cNvPr id="8" name="Text 5"/>
          <p:cNvSpPr/>
          <p:nvPr/>
        </p:nvSpPr>
        <p:spPr>
          <a:xfrm>
            <a:off x="6035040" y="2606040"/>
            <a:ext cx="3657600" cy="274320"/>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cross-validation reference</a:t>
            </a:r>
            <a:endParaRPr lang="en-US" sz="1100" dirty="0"/>
          </a:p>
        </p:txBody>
      </p:sp>
      <p:sp>
        <p:nvSpPr>
          <p:cNvPr id="9" name="Text 6"/>
          <p:cNvSpPr/>
          <p:nvPr/>
        </p:nvSpPr>
        <p:spPr>
          <a:xfrm>
            <a:off x="9692640" y="2148840"/>
            <a:ext cx="1645920" cy="960120"/>
          </a:xfrm>
          <a:prstGeom prst="rect">
            <a:avLst/>
          </a:prstGeom>
          <a:noFill/>
          <a:ln/>
        </p:spPr>
        <p:txBody>
          <a:bodyPr wrap="square" lIns="0" tIns="0" rIns="0" bIns="0" rtlCol="0" anchor="ctr"/>
          <a:lstStyle/>
          <a:p>
            <a:pPr algn="r" indent="0" marL="0">
              <a:buNone/>
            </a:pPr>
            <a:r>
              <a:rPr lang="en-US" sz="2600" b="1" dirty="0">
                <a:solidFill>
                  <a:srgbClr val="565D67"/>
                </a:solidFill>
                <a:latin typeface="Cambria" pitchFamily="34" charset="0"/>
                <a:ea typeface="Cambria" pitchFamily="34" charset="-122"/>
                <a:cs typeface="Cambria" pitchFamily="34" charset="-120"/>
              </a:rPr>
              <a:t>1.00×</a:t>
            </a:r>
            <a:endParaRPr lang="en-US" sz="2600" dirty="0"/>
          </a:p>
        </p:txBody>
      </p:sp>
      <p:sp>
        <p:nvSpPr>
          <p:cNvPr id="10" name="Shape 7"/>
          <p:cNvSpPr/>
          <p:nvPr/>
        </p:nvSpPr>
        <p:spPr>
          <a:xfrm>
            <a:off x="5806440" y="3246120"/>
            <a:ext cx="5715000" cy="960120"/>
          </a:xfrm>
          <a:prstGeom prst="roundRect">
            <a:avLst>
              <a:gd name="adj" fmla="val 5714"/>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11" name="Text 8"/>
          <p:cNvSpPr/>
          <p:nvPr/>
        </p:nvSpPr>
        <p:spPr>
          <a:xfrm>
            <a:off x="6035040" y="3364992"/>
            <a:ext cx="3657600" cy="292608"/>
          </a:xfrm>
          <a:prstGeom prst="rect">
            <a:avLst/>
          </a:prstGeom>
          <a:noFill/>
          <a:ln/>
        </p:spPr>
        <p:txBody>
          <a:bodyPr wrap="square" lIns="0" tIns="0" rIns="0" bIns="0" rtlCol="0" anchor="ctr"/>
          <a:lstStyle/>
          <a:p>
            <a:pPr indent="0" marL="0">
              <a:buNone/>
            </a:pPr>
            <a:r>
              <a:rPr lang="en-US" sz="1250" b="1" dirty="0">
                <a:solidFill>
                  <a:srgbClr val="141A21"/>
                </a:solidFill>
                <a:latin typeface="Calibri" pitchFamily="34" charset="0"/>
                <a:ea typeface="Calibri" pitchFamily="34" charset="-122"/>
                <a:cs typeface="Calibri" pitchFamily="34" charset="-120"/>
              </a:rPr>
              <a:t>Code 25 — unseen, same regime</a:t>
            </a:r>
            <a:endParaRPr lang="en-US" sz="1250" dirty="0"/>
          </a:p>
        </p:txBody>
      </p:sp>
      <p:sp>
        <p:nvSpPr>
          <p:cNvPr id="12" name="Text 9"/>
          <p:cNvSpPr/>
          <p:nvPr/>
        </p:nvSpPr>
        <p:spPr>
          <a:xfrm>
            <a:off x="6035040" y="3703320"/>
            <a:ext cx="3657600" cy="274320"/>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unfamiliar product, no penalty</a:t>
            </a:r>
            <a:endParaRPr lang="en-US" sz="1100" dirty="0"/>
          </a:p>
        </p:txBody>
      </p:sp>
      <p:sp>
        <p:nvSpPr>
          <p:cNvPr id="13" name="Text 10"/>
          <p:cNvSpPr/>
          <p:nvPr/>
        </p:nvSpPr>
        <p:spPr>
          <a:xfrm>
            <a:off x="9692640" y="3246120"/>
            <a:ext cx="1645920" cy="960120"/>
          </a:xfrm>
          <a:prstGeom prst="rect">
            <a:avLst/>
          </a:prstGeom>
          <a:noFill/>
          <a:ln/>
        </p:spPr>
        <p:txBody>
          <a:bodyPr wrap="square" lIns="0" tIns="0" rIns="0" bIns="0" rtlCol="0" anchor="ctr"/>
          <a:lstStyle/>
          <a:p>
            <a:pPr algn="r" indent="0" marL="0">
              <a:buNone/>
            </a:pPr>
            <a:r>
              <a:rPr lang="en-US" sz="2600" b="1" dirty="0">
                <a:solidFill>
                  <a:srgbClr val="1F6F55"/>
                </a:solidFill>
                <a:latin typeface="Cambria" pitchFamily="34" charset="0"/>
                <a:ea typeface="Cambria" pitchFamily="34" charset="-122"/>
                <a:cs typeface="Cambria" pitchFamily="34" charset="-120"/>
              </a:rPr>
              <a:t>0.64×</a:t>
            </a:r>
            <a:endParaRPr lang="en-US" sz="2600" dirty="0"/>
          </a:p>
        </p:txBody>
      </p:sp>
      <p:sp>
        <p:nvSpPr>
          <p:cNvPr id="14" name="Shape 11"/>
          <p:cNvSpPr/>
          <p:nvPr/>
        </p:nvSpPr>
        <p:spPr>
          <a:xfrm>
            <a:off x="5806440" y="4343400"/>
            <a:ext cx="5715000" cy="960120"/>
          </a:xfrm>
          <a:prstGeom prst="roundRect">
            <a:avLst>
              <a:gd name="adj" fmla="val 5714"/>
            </a:avLst>
          </a:prstGeom>
          <a:solidFill>
            <a:srgbClr val="FFFFF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15" name="Text 12"/>
          <p:cNvSpPr/>
          <p:nvPr/>
        </p:nvSpPr>
        <p:spPr>
          <a:xfrm>
            <a:off x="6035040" y="4462272"/>
            <a:ext cx="3657600" cy="292608"/>
          </a:xfrm>
          <a:prstGeom prst="rect">
            <a:avLst/>
          </a:prstGeom>
          <a:noFill/>
          <a:ln/>
        </p:spPr>
        <p:txBody>
          <a:bodyPr wrap="square" lIns="0" tIns="0" rIns="0" bIns="0" rtlCol="0" anchor="ctr"/>
          <a:lstStyle/>
          <a:p>
            <a:pPr indent="0" marL="0">
              <a:buNone/>
            </a:pPr>
            <a:r>
              <a:rPr lang="en-US" sz="1250" b="1" dirty="0">
                <a:solidFill>
                  <a:srgbClr val="141A21"/>
                </a:solidFill>
                <a:latin typeface="Calibri" pitchFamily="34" charset="0"/>
                <a:ea typeface="Calibri" pitchFamily="34" charset="-122"/>
                <a:cs typeface="Calibri" pitchFamily="34" charset="-120"/>
              </a:rPr>
              <a:t>Code 15 — unseen, shifted regime</a:t>
            </a:r>
            <a:endParaRPr lang="en-US" sz="1250" dirty="0"/>
          </a:p>
        </p:txBody>
      </p:sp>
      <p:sp>
        <p:nvSpPr>
          <p:cNvPr id="16" name="Text 13"/>
          <p:cNvSpPr/>
          <p:nvPr/>
        </p:nvSpPr>
        <p:spPr>
          <a:xfrm>
            <a:off x="6035040" y="4800600"/>
            <a:ext cx="3657600" cy="274320"/>
          </a:xfrm>
          <a:prstGeom prst="rect">
            <a:avLst/>
          </a:prstGeom>
          <a:noFill/>
          <a:ln/>
        </p:spPr>
        <p:txBody>
          <a:bodyPr wrap="square" lIns="0" tIns="0" rIns="0" bIns="0" rtlCol="0" anchor="ctr"/>
          <a:lstStyle/>
          <a:p>
            <a:pPr indent="0" marL="0">
              <a:buNone/>
            </a:pPr>
            <a:r>
              <a:rPr lang="en-US" sz="1100" dirty="0">
                <a:solidFill>
                  <a:srgbClr val="565D67"/>
                </a:solidFill>
                <a:latin typeface="Calibri" pitchFamily="34" charset="0"/>
                <a:ea typeface="Calibri" pitchFamily="34" charset="-122"/>
                <a:cs typeface="Calibri" pitchFamily="34" charset="-120"/>
              </a:rPr>
              <a:t>unfamiliar regime, large penalty</a:t>
            </a:r>
            <a:endParaRPr lang="en-US" sz="1100" dirty="0"/>
          </a:p>
        </p:txBody>
      </p:sp>
      <p:sp>
        <p:nvSpPr>
          <p:cNvPr id="17" name="Text 14"/>
          <p:cNvSpPr/>
          <p:nvPr/>
        </p:nvSpPr>
        <p:spPr>
          <a:xfrm>
            <a:off x="9692640" y="4343400"/>
            <a:ext cx="1645920" cy="960120"/>
          </a:xfrm>
          <a:prstGeom prst="rect">
            <a:avLst/>
          </a:prstGeom>
          <a:noFill/>
          <a:ln/>
        </p:spPr>
        <p:txBody>
          <a:bodyPr wrap="square" lIns="0" tIns="0" rIns="0" bIns="0" rtlCol="0" anchor="ctr"/>
          <a:lstStyle/>
          <a:p>
            <a:pPr algn="r" indent="0" marL="0">
              <a:buNone/>
            </a:pPr>
            <a:r>
              <a:rPr lang="en-US" sz="2600" b="1" dirty="0">
                <a:solidFill>
                  <a:srgbClr val="AD6425"/>
                </a:solidFill>
                <a:latin typeface="Cambria" pitchFamily="34" charset="0"/>
                <a:ea typeface="Cambria" pitchFamily="34" charset="-122"/>
                <a:cs typeface="Cambria" pitchFamily="34" charset="-120"/>
              </a:rPr>
              <a:t>2.43×</a:t>
            </a:r>
            <a:endParaRPr lang="en-US" sz="2600" dirty="0"/>
          </a:p>
        </p:txBody>
      </p:sp>
      <p:sp>
        <p:nvSpPr>
          <p:cNvPr id="18" name="Text 15"/>
          <p:cNvSpPr/>
          <p:nvPr/>
        </p:nvSpPr>
        <p:spPr>
          <a:xfrm>
            <a:off x="658368" y="5577840"/>
            <a:ext cx="10881360" cy="548640"/>
          </a:xfrm>
          <a:prstGeom prst="rect">
            <a:avLst/>
          </a:prstGeom>
          <a:noFill/>
          <a:ln/>
        </p:spPr>
        <p:txBody>
          <a:bodyPr wrap="square" lIns="0" tIns="0" rIns="0" bIns="0" rtlCol="0" anchor="ctr"/>
          <a:lstStyle/>
          <a:p>
            <a:pPr indent="0" marL="0">
              <a:buNone/>
            </a:pPr>
            <a:r>
              <a:rPr lang="en-US" sz="1200" dirty="0">
                <a:solidFill>
                  <a:srgbClr val="1F5C8B"/>
                </a:solidFill>
                <a:latin typeface="Calibri" pitchFamily="34" charset="0"/>
                <a:ea typeface="Calibri" pitchFamily="34" charset="-122"/>
                <a:cs typeface="Calibri" pitchFamily="34" charset="-120"/>
              </a:rPr>
              <a:t>An unfamiliar product is fine. An unfamiliar operating regime is not. Nothing tells the model which code is unseen, it separates them itself. Coverage is near nominal on three of four attributes; weight uniformity is poorly calibrated and reported as a limitation.</a:t>
            </a:r>
            <a:endParaRPr lang="en-US" sz="1200" dirty="0"/>
          </a:p>
        </p:txBody>
      </p:sp>
      <p:sp>
        <p:nvSpPr>
          <p:cNvPr id="19" name="Text 16"/>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
        <p:nvSpPr>
          <p:cNvPr id="20" name="Text 17"/>
          <p:cNvSpPr/>
          <p:nvPr/>
        </p:nvSpPr>
        <p:spPr>
          <a:xfrm>
            <a:off x="10954512" y="6400800"/>
            <a:ext cx="548640" cy="256032"/>
          </a:xfrm>
          <a:prstGeom prst="rect">
            <a:avLst/>
          </a:prstGeom>
          <a:noFill/>
          <a:ln/>
        </p:spPr>
        <p:txBody>
          <a:bodyPr wrap="square" lIns="0" tIns="0" rIns="0" bIns="0" rtlCol="0" anchor="ctr"/>
          <a:lstStyle/>
          <a:p>
            <a:pPr algn="r" indent="0" marL="0">
              <a:buNone/>
            </a:pPr>
            <a:r>
              <a:rPr lang="en-US" sz="950" dirty="0">
                <a:solidFill>
                  <a:srgbClr val="8A9099"/>
                </a:solidFill>
                <a:latin typeface="Courier New" pitchFamily="34" charset="0"/>
                <a:ea typeface="Courier New" pitchFamily="34" charset="-122"/>
                <a:cs typeface="Courier New" pitchFamily="34" charset="-120"/>
              </a:rPr>
              <a:t>7</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58368" y="347472"/>
            <a:ext cx="8229600" cy="237744"/>
          </a:xfrm>
          <a:prstGeom prst="rect">
            <a:avLst/>
          </a:prstGeom>
          <a:noFill/>
          <a:ln/>
        </p:spPr>
        <p:txBody>
          <a:bodyPr wrap="square" lIns="0" tIns="0" rIns="0" bIns="0" rtlCol="0" anchor="ctr"/>
          <a:lstStyle/>
          <a:p>
            <a:pPr indent="0" marL="0">
              <a:buNone/>
            </a:pPr>
            <a:r>
              <a:rPr lang="en-US" sz="1050" b="1" spc="200" kern="0" dirty="0">
                <a:solidFill>
                  <a:srgbClr val="1F5C8B"/>
                </a:solidFill>
                <a:latin typeface="Courier New" pitchFamily="34" charset="0"/>
                <a:ea typeface="Courier New" pitchFamily="34" charset="-122"/>
                <a:cs typeface="Courier New" pitchFamily="34" charset="-120"/>
              </a:rPr>
              <a:t>RESULTS  ·  RQ3b</a:t>
            </a:r>
            <a:endParaRPr lang="en-US" sz="1050" dirty="0"/>
          </a:p>
        </p:txBody>
      </p:sp>
      <p:sp>
        <p:nvSpPr>
          <p:cNvPr id="3" name="Text 1"/>
          <p:cNvSpPr/>
          <p:nvPr/>
        </p:nvSpPr>
        <p:spPr>
          <a:xfrm>
            <a:off x="658368" y="676656"/>
            <a:ext cx="10844784" cy="548640"/>
          </a:xfrm>
          <a:prstGeom prst="rect">
            <a:avLst/>
          </a:prstGeom>
          <a:noFill/>
          <a:ln/>
        </p:spPr>
        <p:txBody>
          <a:bodyPr wrap="square" lIns="0" tIns="0" rIns="0" bIns="0" rtlCol="0" anchor="t"/>
          <a:lstStyle/>
          <a:p>
            <a:pPr indent="0" marL="0">
              <a:buNone/>
            </a:pPr>
            <a:r>
              <a:rPr lang="en-US" sz="3000" b="1" dirty="0">
                <a:solidFill>
                  <a:srgbClr val="141A21"/>
                </a:solidFill>
                <a:latin typeface="Cambria" pitchFamily="34" charset="0"/>
                <a:ea typeface="Cambria" pitchFamily="34" charset="-122"/>
                <a:cs typeface="Cambria" pitchFamily="34" charset="-120"/>
              </a:rPr>
              <a:t>The model changes what it looks at when it is unsure</a:t>
            </a:r>
            <a:endParaRPr lang="en-US" sz="3000" dirty="0"/>
          </a:p>
        </p:txBody>
      </p:sp>
      <p:sp>
        <p:nvSpPr>
          <p:cNvPr id="4" name="Text 2"/>
          <p:cNvSpPr/>
          <p:nvPr/>
        </p:nvSpPr>
        <p:spPr>
          <a:xfrm>
            <a:off x="658368" y="1298448"/>
            <a:ext cx="10570464" cy="347472"/>
          </a:xfrm>
          <a:prstGeom prst="rect">
            <a:avLst/>
          </a:prstGeom>
          <a:noFill/>
          <a:ln/>
        </p:spPr>
        <p:txBody>
          <a:bodyPr wrap="square" lIns="0" tIns="0" rIns="0" bIns="0" rtlCol="0" anchor="ctr"/>
          <a:lstStyle/>
          <a:p>
            <a:pPr indent="0" marL="0">
              <a:buNone/>
            </a:pPr>
            <a:r>
              <a:rPr lang="en-US" sz="1400" dirty="0">
                <a:solidFill>
                  <a:srgbClr val="565D67"/>
                </a:solidFill>
                <a:latin typeface="Calibri" pitchFamily="34" charset="0"/>
                <a:ea typeface="Calibri" pitchFamily="34" charset="-122"/>
                <a:cs typeface="Calibri" pitchFamily="34" charset="-120"/>
              </a:rPr>
              <a:t>The strongest statistical result in the study.</a:t>
            </a:r>
            <a:endParaRPr lang="en-US" sz="1400" dirty="0"/>
          </a:p>
        </p:txBody>
      </p:sp>
      <p:pic>
        <p:nvPicPr>
          <p:cNvPr id="5" name="Image 0" descr="img/fig9_channel_attribution.png">    </p:cNvPr>
          <p:cNvPicPr>
            <a:picLocks noChangeAspect="1"/>
          </p:cNvPicPr>
          <p:nvPr/>
        </p:nvPicPr>
        <p:blipFill>
          <a:blip r:embed="rId1"/>
          <a:stretch>
            <a:fillRect/>
          </a:stretch>
        </p:blipFill>
        <p:spPr>
          <a:xfrm>
            <a:off x="658368" y="2057400"/>
            <a:ext cx="5852160" cy="3474720"/>
          </a:xfrm>
          <a:prstGeom prst="rect">
            <a:avLst/>
          </a:prstGeom>
        </p:spPr>
      </p:pic>
      <p:sp>
        <p:nvSpPr>
          <p:cNvPr id="6" name="Text 3"/>
          <p:cNvSpPr/>
          <p:nvPr/>
        </p:nvSpPr>
        <p:spPr>
          <a:xfrm>
            <a:off x="6858000" y="2148840"/>
            <a:ext cx="1920240" cy="411480"/>
          </a:xfrm>
          <a:prstGeom prst="rect">
            <a:avLst/>
          </a:prstGeom>
          <a:noFill/>
          <a:ln/>
        </p:spPr>
        <p:txBody>
          <a:bodyPr wrap="square" lIns="0" tIns="0" rIns="0" bIns="0" rtlCol="0" anchor="ctr"/>
          <a:lstStyle/>
          <a:p>
            <a:pPr indent="0" marL="0">
              <a:buNone/>
            </a:pPr>
            <a:r>
              <a:rPr lang="en-US" sz="2100" b="1" dirty="0">
                <a:solidFill>
                  <a:srgbClr val="1F5C8B"/>
                </a:solidFill>
                <a:latin typeface="Cambria" pitchFamily="34" charset="0"/>
                <a:ea typeface="Cambria" pitchFamily="34" charset="-122"/>
                <a:cs typeface="Cambria" pitchFamily="34" charset="-120"/>
              </a:rPr>
              <a:t>τ = 0.822</a:t>
            </a:r>
            <a:endParaRPr lang="en-US" sz="2100" dirty="0"/>
          </a:p>
        </p:txBody>
      </p:sp>
      <p:sp>
        <p:nvSpPr>
          <p:cNvPr id="7" name="Text 4"/>
          <p:cNvSpPr/>
          <p:nvPr/>
        </p:nvSpPr>
        <p:spPr>
          <a:xfrm>
            <a:off x="8823960" y="2203704"/>
            <a:ext cx="2743200" cy="548640"/>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rank agreement, confident against uncertain</a:t>
            </a:r>
            <a:endParaRPr lang="en-US" sz="1150" dirty="0"/>
          </a:p>
        </p:txBody>
      </p:sp>
      <p:sp>
        <p:nvSpPr>
          <p:cNvPr id="8" name="Text 5"/>
          <p:cNvSpPr/>
          <p:nvPr/>
        </p:nvSpPr>
        <p:spPr>
          <a:xfrm>
            <a:off x="6858000" y="3017520"/>
            <a:ext cx="1920240" cy="411480"/>
          </a:xfrm>
          <a:prstGeom prst="rect">
            <a:avLst/>
          </a:prstGeom>
          <a:noFill/>
          <a:ln/>
        </p:spPr>
        <p:txBody>
          <a:bodyPr wrap="square" lIns="0" tIns="0" rIns="0" bIns="0" rtlCol="0" anchor="ctr"/>
          <a:lstStyle/>
          <a:p>
            <a:pPr indent="0" marL="0">
              <a:buNone/>
            </a:pPr>
            <a:r>
              <a:rPr lang="en-US" sz="2100" b="1" dirty="0">
                <a:solidFill>
                  <a:srgbClr val="1F6F55"/>
                </a:solidFill>
                <a:latin typeface="Cambria" pitchFamily="34" charset="0"/>
                <a:ea typeface="Cambria" pitchFamily="34" charset="-122"/>
                <a:cs typeface="Cambria" pitchFamily="34" charset="-120"/>
              </a:rPr>
              <a:t>p = 0.0004</a:t>
            </a:r>
            <a:endParaRPr lang="en-US" sz="2100" dirty="0"/>
          </a:p>
        </p:txBody>
      </p:sp>
      <p:sp>
        <p:nvSpPr>
          <p:cNvPr id="9" name="Text 6"/>
          <p:cNvSpPr/>
          <p:nvPr/>
        </p:nvSpPr>
        <p:spPr>
          <a:xfrm>
            <a:off x="8823960" y="3072384"/>
            <a:ext cx="2743200" cy="548640"/>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the shift is real, not noise</a:t>
            </a:r>
            <a:endParaRPr lang="en-US" sz="1150" dirty="0"/>
          </a:p>
        </p:txBody>
      </p:sp>
      <p:sp>
        <p:nvSpPr>
          <p:cNvPr id="10" name="Text 7"/>
          <p:cNvSpPr/>
          <p:nvPr/>
        </p:nvSpPr>
        <p:spPr>
          <a:xfrm>
            <a:off x="6858000" y="3886200"/>
            <a:ext cx="1920240" cy="411480"/>
          </a:xfrm>
          <a:prstGeom prst="rect">
            <a:avLst/>
          </a:prstGeom>
          <a:noFill/>
          <a:ln/>
        </p:spPr>
        <p:txBody>
          <a:bodyPr wrap="square" lIns="0" tIns="0" rIns="0" bIns="0" rtlCol="0" anchor="ctr"/>
          <a:lstStyle/>
          <a:p>
            <a:pPr indent="0" marL="0">
              <a:buNone/>
            </a:pPr>
            <a:r>
              <a:rPr lang="en-US" sz="2100" b="1" dirty="0">
                <a:solidFill>
                  <a:srgbClr val="AD6425"/>
                </a:solidFill>
                <a:latin typeface="Cambria" pitchFamily="34" charset="0"/>
                <a:ea typeface="Cambria" pitchFamily="34" charset="-122"/>
                <a:cs typeface="Cambria" pitchFamily="34" charset="-120"/>
              </a:rPr>
              <a:t>4.86×</a:t>
            </a:r>
            <a:endParaRPr lang="en-US" sz="2100" dirty="0"/>
          </a:p>
        </p:txBody>
      </p:sp>
      <p:sp>
        <p:nvSpPr>
          <p:cNvPr id="11" name="Text 8"/>
          <p:cNvSpPr/>
          <p:nvPr/>
        </p:nvSpPr>
        <p:spPr>
          <a:xfrm>
            <a:off x="8823960" y="3941064"/>
            <a:ext cx="2743200" cy="548640"/>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die fill, amplified when uncertain</a:t>
            </a:r>
            <a:endParaRPr lang="en-US" sz="1150" dirty="0"/>
          </a:p>
        </p:txBody>
      </p:sp>
      <p:sp>
        <p:nvSpPr>
          <p:cNvPr id="12" name="Text 9"/>
          <p:cNvSpPr/>
          <p:nvPr/>
        </p:nvSpPr>
        <p:spPr>
          <a:xfrm>
            <a:off x="6858000" y="4754880"/>
            <a:ext cx="1920240" cy="411480"/>
          </a:xfrm>
          <a:prstGeom prst="rect">
            <a:avLst/>
          </a:prstGeom>
          <a:noFill/>
          <a:ln/>
        </p:spPr>
        <p:txBody>
          <a:bodyPr wrap="square" lIns="0" tIns="0" rIns="0" bIns="0" rtlCol="0" anchor="ctr"/>
          <a:lstStyle/>
          <a:p>
            <a:pPr indent="0" marL="0">
              <a:buNone/>
            </a:pPr>
            <a:r>
              <a:rPr lang="en-US" sz="2100" b="1" dirty="0">
                <a:solidFill>
                  <a:srgbClr val="AD6425"/>
                </a:solidFill>
                <a:latin typeface="Cambria" pitchFamily="34" charset="0"/>
                <a:ea typeface="Cambria" pitchFamily="34" charset="-122"/>
                <a:cs typeface="Cambria" pitchFamily="34" charset="-120"/>
              </a:rPr>
              <a:t>2.81×</a:t>
            </a:r>
            <a:endParaRPr lang="en-US" sz="2100" dirty="0"/>
          </a:p>
        </p:txBody>
      </p:sp>
      <p:sp>
        <p:nvSpPr>
          <p:cNvPr id="13" name="Text 10"/>
          <p:cNvSpPr/>
          <p:nvPr/>
        </p:nvSpPr>
        <p:spPr>
          <a:xfrm>
            <a:off x="8823960" y="4809744"/>
            <a:ext cx="2743200" cy="548640"/>
          </a:xfrm>
          <a:prstGeom prst="rect">
            <a:avLst/>
          </a:prstGeom>
          <a:noFill/>
          <a:ln/>
        </p:spPr>
        <p:txBody>
          <a:bodyPr wrap="square" lIns="0" tIns="0" rIns="0" bIns="0" rtlCol="0" anchor="ctr"/>
          <a:lstStyle/>
          <a:p>
            <a:pPr indent="0" marL="0">
              <a:buNone/>
            </a:pPr>
            <a:r>
              <a:rPr lang="en-US" sz="1150" dirty="0">
                <a:solidFill>
                  <a:srgbClr val="565D67"/>
                </a:solidFill>
                <a:latin typeface="Calibri" pitchFamily="34" charset="0"/>
                <a:ea typeface="Calibri" pitchFamily="34" charset="-122"/>
                <a:cs typeface="Calibri" pitchFamily="34" charset="-120"/>
              </a:rPr>
              <a:t>main compression, amplified when uncertain</a:t>
            </a:r>
            <a:endParaRPr lang="en-US" sz="1150" dirty="0"/>
          </a:p>
        </p:txBody>
      </p:sp>
      <p:sp>
        <p:nvSpPr>
          <p:cNvPr id="14" name="Text 11"/>
          <p:cNvSpPr/>
          <p:nvPr/>
        </p:nvSpPr>
        <p:spPr>
          <a:xfrm>
            <a:off x="6858000" y="5623560"/>
            <a:ext cx="4663440" cy="640080"/>
          </a:xfrm>
          <a:prstGeom prst="rect">
            <a:avLst/>
          </a:prstGeom>
          <a:noFill/>
          <a:ln/>
        </p:spPr>
        <p:txBody>
          <a:bodyPr wrap="square" lIns="0" tIns="0" rIns="0" bIns="0" rtlCol="0" anchor="ctr"/>
          <a:lstStyle/>
          <a:p>
            <a:pPr indent="0" marL="0">
              <a:buNone/>
            </a:pPr>
            <a:r>
              <a:rPr lang="en-US" sz="1150" i="1" dirty="0">
                <a:solidFill>
                  <a:srgbClr val="1F5C8B"/>
                </a:solidFill>
                <a:latin typeface="Calibri" pitchFamily="34" charset="0"/>
                <a:ea typeface="Calibri" pitchFamily="34" charset="-122"/>
                <a:cs typeface="Calibri" pitchFamily="34" charset="-120"/>
              </a:rPr>
              <a:t>Die fill and main compression are the two signals that physically determine tablet hardness. The model was given ten raw channels and four laboratory numbers, and was never told which mattered.</a:t>
            </a:r>
            <a:endParaRPr lang="en-US" sz="1150" dirty="0"/>
          </a:p>
        </p:txBody>
      </p:sp>
      <p:sp>
        <p:nvSpPr>
          <p:cNvPr id="15" name="Text 12"/>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
        <p:nvSpPr>
          <p:cNvPr id="16" name="Text 13"/>
          <p:cNvSpPr/>
          <p:nvPr/>
        </p:nvSpPr>
        <p:spPr>
          <a:xfrm>
            <a:off x="10954512" y="6400800"/>
            <a:ext cx="548640" cy="256032"/>
          </a:xfrm>
          <a:prstGeom prst="rect">
            <a:avLst/>
          </a:prstGeom>
          <a:noFill/>
          <a:ln/>
        </p:spPr>
        <p:txBody>
          <a:bodyPr wrap="square" lIns="0" tIns="0" rIns="0" bIns="0" rtlCol="0" anchor="ctr"/>
          <a:lstStyle/>
          <a:p>
            <a:pPr algn="r" indent="0" marL="0">
              <a:buNone/>
            </a:pPr>
            <a:r>
              <a:rPr lang="en-US" sz="950" dirty="0">
                <a:solidFill>
                  <a:srgbClr val="8A9099"/>
                </a:solidFill>
                <a:latin typeface="Courier New" pitchFamily="34" charset="0"/>
                <a:ea typeface="Courier New" pitchFamily="34" charset="-122"/>
                <a:cs typeface="Courier New" pitchFamily="34" charset="-120"/>
              </a:rPr>
              <a:t>8</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58368" y="347472"/>
            <a:ext cx="8229600" cy="237744"/>
          </a:xfrm>
          <a:prstGeom prst="rect">
            <a:avLst/>
          </a:prstGeom>
          <a:noFill/>
          <a:ln/>
        </p:spPr>
        <p:txBody>
          <a:bodyPr wrap="square" lIns="0" tIns="0" rIns="0" bIns="0" rtlCol="0" anchor="ctr"/>
          <a:lstStyle/>
          <a:p>
            <a:pPr indent="0" marL="0">
              <a:buNone/>
            </a:pPr>
            <a:r>
              <a:rPr lang="en-US" sz="1050" b="1" spc="200" kern="0" dirty="0">
                <a:solidFill>
                  <a:srgbClr val="1F5C8B"/>
                </a:solidFill>
                <a:latin typeface="Courier New" pitchFamily="34" charset="0"/>
                <a:ea typeface="Courier New" pitchFamily="34" charset="-122"/>
                <a:cs typeface="Courier New" pitchFamily="34" charset="-120"/>
              </a:rPr>
              <a:t>DISCUSSION</a:t>
            </a:r>
            <a:endParaRPr lang="en-US" sz="1050" dirty="0"/>
          </a:p>
        </p:txBody>
      </p:sp>
      <p:sp>
        <p:nvSpPr>
          <p:cNvPr id="3" name="Text 1"/>
          <p:cNvSpPr/>
          <p:nvPr/>
        </p:nvSpPr>
        <p:spPr>
          <a:xfrm>
            <a:off x="658368" y="676656"/>
            <a:ext cx="10844784" cy="548640"/>
          </a:xfrm>
          <a:prstGeom prst="rect">
            <a:avLst/>
          </a:prstGeom>
          <a:noFill/>
          <a:ln/>
        </p:spPr>
        <p:txBody>
          <a:bodyPr wrap="square" lIns="0" tIns="0" rIns="0" bIns="0" rtlCol="0" anchor="t"/>
          <a:lstStyle/>
          <a:p>
            <a:pPr indent="0" marL="0">
              <a:buNone/>
            </a:pPr>
            <a:r>
              <a:rPr lang="en-US" sz="3000" b="1" dirty="0">
                <a:solidFill>
                  <a:srgbClr val="141A21"/>
                </a:solidFill>
                <a:latin typeface="Cambria" pitchFamily="34" charset="0"/>
                <a:ea typeface="Cambria" pitchFamily="34" charset="-122"/>
                <a:cs typeface="Cambria" pitchFamily="34" charset="-120"/>
              </a:rPr>
              <a:t>Why hardness is hard, and what this work does not show</a:t>
            </a:r>
            <a:endParaRPr lang="en-US" sz="3000" dirty="0"/>
          </a:p>
        </p:txBody>
      </p:sp>
      <p:pic>
        <p:nvPicPr>
          <p:cNvPr id="4" name="Image 0" descr="img/fig6_hardness_vs_meanhardness.png">    </p:cNvPr>
          <p:cNvPicPr>
            <a:picLocks noChangeAspect="1"/>
          </p:cNvPicPr>
          <p:nvPr/>
        </p:nvPicPr>
        <p:blipFill>
          <a:blip r:embed="rId1"/>
          <a:stretch>
            <a:fillRect/>
          </a:stretch>
        </p:blipFill>
        <p:spPr>
          <a:xfrm>
            <a:off x="658368" y="2103120"/>
            <a:ext cx="5029200" cy="2971800"/>
          </a:xfrm>
          <a:prstGeom prst="rect">
            <a:avLst/>
          </a:prstGeom>
        </p:spPr>
      </p:pic>
      <p:sp>
        <p:nvSpPr>
          <p:cNvPr id="5" name="Shape 2"/>
          <p:cNvSpPr/>
          <p:nvPr/>
        </p:nvSpPr>
        <p:spPr>
          <a:xfrm>
            <a:off x="658368" y="5212080"/>
            <a:ext cx="5029200" cy="960120"/>
          </a:xfrm>
          <a:prstGeom prst="roundRect">
            <a:avLst>
              <a:gd name="adj" fmla="val 5714"/>
            </a:avLst>
          </a:prstGeom>
          <a:solidFill>
            <a:srgbClr val="F4F3EF"/>
          </a:solidFill>
          <a:ln w="9525">
            <a:solidFill>
              <a:srgbClr val="D4D1C8"/>
            </a:solidFill>
            <a:prstDash val="solid"/>
          </a:ln>
          <a:effectLst>
            <a:outerShdw sx="100000" sy="100000" kx="0" ky="0" algn="bl" rotWithShape="0" blurRad="76200" dist="12700" dir="5400000">
              <a:srgbClr val="141A21">
                <a:alpha val="5000"/>
              </a:srgbClr>
            </a:outerShdw>
          </a:effectLst>
        </p:spPr>
      </p:sp>
      <p:sp>
        <p:nvSpPr>
          <p:cNvPr id="6" name="Text 3"/>
          <p:cNvSpPr/>
          <p:nvPr/>
        </p:nvSpPr>
        <p:spPr>
          <a:xfrm>
            <a:off x="886968" y="5349240"/>
            <a:ext cx="1554480" cy="384048"/>
          </a:xfrm>
          <a:prstGeom prst="rect">
            <a:avLst/>
          </a:prstGeom>
          <a:noFill/>
          <a:ln/>
        </p:spPr>
        <p:txBody>
          <a:bodyPr wrap="square" lIns="0" tIns="0" rIns="0" bIns="0" rtlCol="0" anchor="ctr"/>
          <a:lstStyle/>
          <a:p>
            <a:pPr indent="0" marL="0">
              <a:buNone/>
            </a:pPr>
            <a:r>
              <a:rPr lang="en-US" sz="2000" b="1" dirty="0">
                <a:solidFill>
                  <a:srgbClr val="AD6425"/>
                </a:solidFill>
                <a:latin typeface="Cambria" pitchFamily="34" charset="0"/>
                <a:ea typeface="Cambria" pitchFamily="34" charset="-122"/>
                <a:cs typeface="Cambria" pitchFamily="34" charset="-120"/>
              </a:rPr>
              <a:t>r = 0.941</a:t>
            </a:r>
            <a:endParaRPr lang="en-US" sz="2000" dirty="0"/>
          </a:p>
        </p:txBody>
      </p:sp>
      <p:sp>
        <p:nvSpPr>
          <p:cNvPr id="7" name="Text 4"/>
          <p:cNvSpPr/>
          <p:nvPr/>
        </p:nvSpPr>
        <p:spPr>
          <a:xfrm>
            <a:off x="2532888" y="5321808"/>
            <a:ext cx="3063240" cy="777240"/>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Hardness error scales with distance from the centre of the training distribution, across 24 held-out codes. A property of the dataset, not the architecture.</a:t>
            </a:r>
            <a:endParaRPr lang="en-US" sz="1050" dirty="0"/>
          </a:p>
        </p:txBody>
      </p:sp>
      <p:sp>
        <p:nvSpPr>
          <p:cNvPr id="8" name="Text 5"/>
          <p:cNvSpPr/>
          <p:nvPr/>
        </p:nvSpPr>
        <p:spPr>
          <a:xfrm>
            <a:off x="6035040" y="2057400"/>
            <a:ext cx="5486400" cy="219456"/>
          </a:xfrm>
          <a:prstGeom prst="rect">
            <a:avLst/>
          </a:prstGeom>
          <a:noFill/>
          <a:ln/>
        </p:spPr>
        <p:txBody>
          <a:bodyPr wrap="square" lIns="0" tIns="0" rIns="0" bIns="0" rtlCol="0" anchor="ctr"/>
          <a:lstStyle/>
          <a:p>
            <a:pPr indent="0" marL="0">
              <a:buNone/>
            </a:pPr>
            <a:r>
              <a:rPr lang="en-US" sz="850" spc="120" kern="0" dirty="0">
                <a:solidFill>
                  <a:srgbClr val="8A9099"/>
                </a:solidFill>
                <a:latin typeface="Courier New" pitchFamily="34" charset="0"/>
                <a:ea typeface="Courier New" pitchFamily="34" charset="-122"/>
                <a:cs typeface="Courier New" pitchFamily="34" charset="-120"/>
              </a:rPr>
              <a:t>LIMITATIONS</a:t>
            </a:r>
            <a:endParaRPr lang="en-US" sz="850" dirty="0"/>
          </a:p>
        </p:txBody>
      </p:sp>
      <p:sp>
        <p:nvSpPr>
          <p:cNvPr id="9" name="Shape 6"/>
          <p:cNvSpPr/>
          <p:nvPr/>
        </p:nvSpPr>
        <p:spPr>
          <a:xfrm>
            <a:off x="6035040" y="2295144"/>
            <a:ext cx="201168" cy="201168"/>
          </a:xfrm>
          <a:prstGeom prst="ellipse">
            <a:avLst/>
          </a:prstGeom>
          <a:solidFill>
            <a:srgbClr val="1F5C8B"/>
          </a:solidFill>
          <a:ln w="12700">
            <a:solidFill>
              <a:srgbClr val="1F5C8B"/>
            </a:solidFill>
            <a:prstDash val="solid"/>
          </a:ln>
        </p:spPr>
      </p:sp>
      <p:sp>
        <p:nvSpPr>
          <p:cNvPr id="10" name="Text 7"/>
          <p:cNvSpPr/>
          <p:nvPr/>
        </p:nvSpPr>
        <p:spPr>
          <a:xfrm>
            <a:off x="6382512" y="2240280"/>
            <a:ext cx="5120640" cy="256032"/>
          </a:xfrm>
          <a:prstGeom prst="rect">
            <a:avLst/>
          </a:prstGeom>
          <a:noFill/>
          <a:ln/>
        </p:spPr>
        <p:txBody>
          <a:bodyPr wrap="square" lIns="0" tIns="0" rIns="0" bIns="0" rtlCol="0" anchor="ctr"/>
          <a:lstStyle/>
          <a:p>
            <a:pPr indent="0" marL="0">
              <a:buNone/>
            </a:pPr>
            <a:r>
              <a:rPr lang="en-US" sz="1250" b="1" dirty="0">
                <a:solidFill>
                  <a:srgbClr val="141A21"/>
                </a:solidFill>
                <a:latin typeface="Cambria" pitchFamily="34" charset="0"/>
                <a:ea typeface="Cambria" pitchFamily="34" charset="-122"/>
                <a:cs typeface="Cambria" pitchFamily="34" charset="-120"/>
              </a:rPr>
              <a:t>One production line</a:t>
            </a:r>
            <a:endParaRPr lang="en-US" sz="1250" dirty="0"/>
          </a:p>
        </p:txBody>
      </p:sp>
      <p:sp>
        <p:nvSpPr>
          <p:cNvPr id="11" name="Text 8"/>
          <p:cNvSpPr/>
          <p:nvPr/>
        </p:nvSpPr>
        <p:spPr>
          <a:xfrm>
            <a:off x="6382512" y="2514600"/>
            <a:ext cx="5120640" cy="310896"/>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Transfer to other equipment is untested.</a:t>
            </a:r>
            <a:endParaRPr lang="en-US" sz="1050" dirty="0"/>
          </a:p>
        </p:txBody>
      </p:sp>
      <p:sp>
        <p:nvSpPr>
          <p:cNvPr id="12" name="Shape 9"/>
          <p:cNvSpPr/>
          <p:nvPr/>
        </p:nvSpPr>
        <p:spPr>
          <a:xfrm>
            <a:off x="6035040" y="2935224"/>
            <a:ext cx="201168" cy="201168"/>
          </a:xfrm>
          <a:prstGeom prst="ellipse">
            <a:avLst/>
          </a:prstGeom>
          <a:solidFill>
            <a:srgbClr val="1F5C8B"/>
          </a:solidFill>
          <a:ln w="12700">
            <a:solidFill>
              <a:srgbClr val="1F5C8B"/>
            </a:solidFill>
            <a:prstDash val="solid"/>
          </a:ln>
        </p:spPr>
      </p:sp>
      <p:sp>
        <p:nvSpPr>
          <p:cNvPr id="13" name="Text 10"/>
          <p:cNvSpPr/>
          <p:nvPr/>
        </p:nvSpPr>
        <p:spPr>
          <a:xfrm>
            <a:off x="6382512" y="2880360"/>
            <a:ext cx="5120640" cy="256032"/>
          </a:xfrm>
          <a:prstGeom prst="rect">
            <a:avLst/>
          </a:prstGeom>
          <a:noFill/>
          <a:ln/>
        </p:spPr>
        <p:txBody>
          <a:bodyPr wrap="square" lIns="0" tIns="0" rIns="0" bIns="0" rtlCol="0" anchor="ctr"/>
          <a:lstStyle/>
          <a:p>
            <a:pPr indent="0" marL="0">
              <a:buNone/>
            </a:pPr>
            <a:r>
              <a:rPr lang="en-US" sz="1250" b="1" dirty="0">
                <a:solidFill>
                  <a:srgbClr val="141A21"/>
                </a:solidFill>
                <a:latin typeface="Cambria" pitchFamily="34" charset="0"/>
                <a:ea typeface="Cambria" pitchFamily="34" charset="-122"/>
                <a:cs typeface="Cambria" pitchFamily="34" charset="-120"/>
              </a:rPr>
              <a:t>Low statistical power</a:t>
            </a:r>
            <a:endParaRPr lang="en-US" sz="1250" dirty="0"/>
          </a:p>
        </p:txBody>
      </p:sp>
      <p:sp>
        <p:nvSpPr>
          <p:cNvPr id="14" name="Text 11"/>
          <p:cNvSpPr/>
          <p:nvPr/>
        </p:nvSpPr>
        <p:spPr>
          <a:xfrm>
            <a:off x="6382512" y="3154680"/>
            <a:ext cx="5120640" cy="310896"/>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Three folds detect only large effects.</a:t>
            </a:r>
            <a:endParaRPr lang="en-US" sz="1050" dirty="0"/>
          </a:p>
        </p:txBody>
      </p:sp>
      <p:sp>
        <p:nvSpPr>
          <p:cNvPr id="15" name="Shape 12"/>
          <p:cNvSpPr/>
          <p:nvPr/>
        </p:nvSpPr>
        <p:spPr>
          <a:xfrm>
            <a:off x="6035040" y="3575304"/>
            <a:ext cx="201168" cy="201168"/>
          </a:xfrm>
          <a:prstGeom prst="ellipse">
            <a:avLst/>
          </a:prstGeom>
          <a:solidFill>
            <a:srgbClr val="AD6425"/>
          </a:solidFill>
          <a:ln w="12700">
            <a:solidFill>
              <a:srgbClr val="AD6425"/>
            </a:solidFill>
            <a:prstDash val="solid"/>
          </a:ln>
        </p:spPr>
      </p:sp>
      <p:sp>
        <p:nvSpPr>
          <p:cNvPr id="16" name="Text 13"/>
          <p:cNvSpPr/>
          <p:nvPr/>
        </p:nvSpPr>
        <p:spPr>
          <a:xfrm>
            <a:off x="6382512" y="3520440"/>
            <a:ext cx="5120640" cy="256032"/>
          </a:xfrm>
          <a:prstGeom prst="rect">
            <a:avLst/>
          </a:prstGeom>
          <a:noFill/>
          <a:ln/>
        </p:spPr>
        <p:txBody>
          <a:bodyPr wrap="square" lIns="0" tIns="0" rIns="0" bIns="0" rtlCol="0" anchor="ctr"/>
          <a:lstStyle/>
          <a:p>
            <a:pPr indent="0" marL="0">
              <a:buNone/>
            </a:pPr>
            <a:r>
              <a:rPr lang="en-US" sz="1250" b="1" dirty="0">
                <a:solidFill>
                  <a:srgbClr val="141A21"/>
                </a:solidFill>
                <a:latin typeface="Cambria" pitchFamily="34" charset="0"/>
                <a:ea typeface="Cambria" pitchFamily="34" charset="-122"/>
                <a:cs typeface="Cambria" pitchFamily="34" charset="-120"/>
              </a:rPr>
              <a:t>Weight uniformity poorly calibrated</a:t>
            </a:r>
            <a:endParaRPr lang="en-US" sz="1250" dirty="0"/>
          </a:p>
        </p:txBody>
      </p:sp>
      <p:sp>
        <p:nvSpPr>
          <p:cNvPr id="17" name="Text 14"/>
          <p:cNvSpPr/>
          <p:nvPr/>
        </p:nvSpPr>
        <p:spPr>
          <a:xfrm>
            <a:off x="6382512" y="3794760"/>
            <a:ext cx="5120640" cy="310896"/>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Its intervals should not be trusted per batch.</a:t>
            </a:r>
            <a:endParaRPr lang="en-US" sz="1050" dirty="0"/>
          </a:p>
        </p:txBody>
      </p:sp>
      <p:sp>
        <p:nvSpPr>
          <p:cNvPr id="18" name="Shape 15"/>
          <p:cNvSpPr/>
          <p:nvPr/>
        </p:nvSpPr>
        <p:spPr>
          <a:xfrm>
            <a:off x="6035040" y="4215384"/>
            <a:ext cx="201168" cy="201168"/>
          </a:xfrm>
          <a:prstGeom prst="ellipse">
            <a:avLst/>
          </a:prstGeom>
          <a:solidFill>
            <a:srgbClr val="AD6425"/>
          </a:solidFill>
          <a:ln w="12700">
            <a:solidFill>
              <a:srgbClr val="AD6425"/>
            </a:solidFill>
            <a:prstDash val="solid"/>
          </a:ln>
        </p:spPr>
      </p:sp>
      <p:sp>
        <p:nvSpPr>
          <p:cNvPr id="19" name="Text 16"/>
          <p:cNvSpPr/>
          <p:nvPr/>
        </p:nvSpPr>
        <p:spPr>
          <a:xfrm>
            <a:off x="6382512" y="4160520"/>
            <a:ext cx="5120640" cy="256032"/>
          </a:xfrm>
          <a:prstGeom prst="rect">
            <a:avLst/>
          </a:prstGeom>
          <a:noFill/>
          <a:ln/>
        </p:spPr>
        <p:txBody>
          <a:bodyPr wrap="square" lIns="0" tIns="0" rIns="0" bIns="0" rtlCol="0" anchor="ctr"/>
          <a:lstStyle/>
          <a:p>
            <a:pPr indent="0" marL="0">
              <a:buNone/>
            </a:pPr>
            <a:r>
              <a:rPr lang="en-US" sz="1250" b="1" dirty="0">
                <a:solidFill>
                  <a:srgbClr val="141A21"/>
                </a:solidFill>
                <a:latin typeface="Cambria" pitchFamily="34" charset="0"/>
                <a:ea typeface="Cambria" pitchFamily="34" charset="-122"/>
                <a:cs typeface="Cambria" pitchFamily="34" charset="-120"/>
              </a:rPr>
              <a:t>Ensembles more robust under shift</a:t>
            </a:r>
            <a:endParaRPr lang="en-US" sz="1250" dirty="0"/>
          </a:p>
        </p:txBody>
      </p:sp>
      <p:sp>
        <p:nvSpPr>
          <p:cNvPr id="20" name="Text 17"/>
          <p:cNvSpPr/>
          <p:nvPr/>
        </p:nvSpPr>
        <p:spPr>
          <a:xfrm>
            <a:off x="6382512" y="4434840"/>
            <a:ext cx="5120640" cy="310896"/>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Beat the single-pass model, at five times the cost.</a:t>
            </a:r>
            <a:endParaRPr lang="en-US" sz="1050" dirty="0"/>
          </a:p>
        </p:txBody>
      </p:sp>
      <p:sp>
        <p:nvSpPr>
          <p:cNvPr id="21" name="Shape 18"/>
          <p:cNvSpPr/>
          <p:nvPr/>
        </p:nvSpPr>
        <p:spPr>
          <a:xfrm>
            <a:off x="6035040" y="4855464"/>
            <a:ext cx="201168" cy="201168"/>
          </a:xfrm>
          <a:prstGeom prst="ellipse">
            <a:avLst/>
          </a:prstGeom>
          <a:solidFill>
            <a:srgbClr val="1F6F55"/>
          </a:solidFill>
          <a:ln w="12700">
            <a:solidFill>
              <a:srgbClr val="1F6F55"/>
            </a:solidFill>
            <a:prstDash val="solid"/>
          </a:ln>
        </p:spPr>
      </p:sp>
      <p:sp>
        <p:nvSpPr>
          <p:cNvPr id="22" name="Text 19"/>
          <p:cNvSpPr/>
          <p:nvPr/>
        </p:nvSpPr>
        <p:spPr>
          <a:xfrm>
            <a:off x="6382512" y="4800600"/>
            <a:ext cx="5120640" cy="256032"/>
          </a:xfrm>
          <a:prstGeom prst="rect">
            <a:avLst/>
          </a:prstGeom>
          <a:noFill/>
          <a:ln/>
        </p:spPr>
        <p:txBody>
          <a:bodyPr wrap="square" lIns="0" tIns="0" rIns="0" bIns="0" rtlCol="0" anchor="ctr"/>
          <a:lstStyle/>
          <a:p>
            <a:pPr indent="0" marL="0">
              <a:buNone/>
            </a:pPr>
            <a:r>
              <a:rPr lang="en-US" sz="1250" b="1" dirty="0">
                <a:solidFill>
                  <a:srgbClr val="141A21"/>
                </a:solidFill>
                <a:latin typeface="Cambria" pitchFamily="34" charset="0"/>
                <a:ea typeface="Cambria" pitchFamily="34" charset="-122"/>
                <a:cs typeface="Cambria" pitchFamily="34" charset="-120"/>
              </a:rPr>
              <a:t>A result that did not replicate</a:t>
            </a:r>
            <a:endParaRPr lang="en-US" sz="1250" dirty="0"/>
          </a:p>
        </p:txBody>
      </p:sp>
      <p:sp>
        <p:nvSpPr>
          <p:cNvPr id="23" name="Text 20"/>
          <p:cNvSpPr/>
          <p:nvPr/>
        </p:nvSpPr>
        <p:spPr>
          <a:xfrm>
            <a:off x="6382512" y="5074920"/>
            <a:ext cx="5120640" cy="310896"/>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An early phase-level effect vanished once folds were fixed.</a:t>
            </a:r>
            <a:endParaRPr lang="en-US" sz="1050" dirty="0"/>
          </a:p>
        </p:txBody>
      </p:sp>
      <p:sp>
        <p:nvSpPr>
          <p:cNvPr id="24" name="Shape 21"/>
          <p:cNvSpPr/>
          <p:nvPr/>
        </p:nvSpPr>
        <p:spPr>
          <a:xfrm>
            <a:off x="6035040" y="5495544"/>
            <a:ext cx="201168" cy="201168"/>
          </a:xfrm>
          <a:prstGeom prst="ellipse">
            <a:avLst/>
          </a:prstGeom>
          <a:solidFill>
            <a:srgbClr val="1F6F55"/>
          </a:solidFill>
          <a:ln w="12700">
            <a:solidFill>
              <a:srgbClr val="1F6F55"/>
            </a:solidFill>
            <a:prstDash val="solid"/>
          </a:ln>
        </p:spPr>
      </p:sp>
      <p:sp>
        <p:nvSpPr>
          <p:cNvPr id="25" name="Text 22"/>
          <p:cNvSpPr/>
          <p:nvPr/>
        </p:nvSpPr>
        <p:spPr>
          <a:xfrm>
            <a:off x="6382512" y="5440680"/>
            <a:ext cx="5120640" cy="256032"/>
          </a:xfrm>
          <a:prstGeom prst="rect">
            <a:avLst/>
          </a:prstGeom>
          <a:noFill/>
          <a:ln/>
        </p:spPr>
        <p:txBody>
          <a:bodyPr wrap="square" lIns="0" tIns="0" rIns="0" bIns="0" rtlCol="0" anchor="ctr"/>
          <a:lstStyle/>
          <a:p>
            <a:pPr indent="0" marL="0">
              <a:buNone/>
            </a:pPr>
            <a:r>
              <a:rPr lang="en-US" sz="1250" b="1" dirty="0">
                <a:solidFill>
                  <a:srgbClr val="141A21"/>
                </a:solidFill>
                <a:latin typeface="Cambria" pitchFamily="34" charset="0"/>
                <a:ea typeface="Cambria" pitchFamily="34" charset="-122"/>
                <a:cs typeface="Cambria" pitchFamily="34" charset="-120"/>
              </a:rPr>
              <a:t>Not a release decision</a:t>
            </a:r>
            <a:endParaRPr lang="en-US" sz="1250" dirty="0"/>
          </a:p>
        </p:txBody>
      </p:sp>
      <p:sp>
        <p:nvSpPr>
          <p:cNvPr id="26" name="Text 23"/>
          <p:cNvSpPr/>
          <p:nvPr/>
        </p:nvSpPr>
        <p:spPr>
          <a:xfrm>
            <a:off x="6382512" y="5715000"/>
            <a:ext cx="5120640" cy="310896"/>
          </a:xfrm>
          <a:prstGeom prst="rect">
            <a:avLst/>
          </a:prstGeom>
          <a:noFill/>
          <a:ln/>
        </p:spPr>
        <p:txBody>
          <a:bodyPr wrap="square" lIns="0" tIns="0" rIns="0" bIns="0" rtlCol="0" anchor="ctr"/>
          <a:lstStyle/>
          <a:p>
            <a:pPr indent="0" marL="0">
              <a:buNone/>
            </a:pPr>
            <a:r>
              <a:rPr lang="en-US" sz="1050" dirty="0">
                <a:solidFill>
                  <a:srgbClr val="565D67"/>
                </a:solidFill>
                <a:latin typeface="Calibri" pitchFamily="34" charset="0"/>
                <a:ea typeface="Calibri" pitchFamily="34" charset="-122"/>
                <a:cs typeface="Calibri" pitchFamily="34" charset="-120"/>
              </a:rPr>
              <a:t>Predicts values; does not pass or fail batches.</a:t>
            </a:r>
            <a:endParaRPr lang="en-US" sz="1050" dirty="0"/>
          </a:p>
        </p:txBody>
      </p:sp>
      <p:sp>
        <p:nvSpPr>
          <p:cNvPr id="27" name="Text 24"/>
          <p:cNvSpPr/>
          <p:nvPr/>
        </p:nvSpPr>
        <p:spPr>
          <a:xfrm>
            <a:off x="6035040" y="6144768"/>
            <a:ext cx="5486400" cy="274320"/>
          </a:xfrm>
          <a:prstGeom prst="rect">
            <a:avLst/>
          </a:prstGeom>
          <a:noFill/>
          <a:ln/>
        </p:spPr>
        <p:txBody>
          <a:bodyPr wrap="square" lIns="0" tIns="0" rIns="0" bIns="0" rtlCol="0" anchor="ctr"/>
          <a:lstStyle/>
          <a:p>
            <a:pPr indent="0" marL="0">
              <a:buNone/>
            </a:pPr>
            <a:r>
              <a:rPr lang="en-US" sz="1050" i="1" dirty="0">
                <a:solidFill>
                  <a:srgbClr val="1F5C8B"/>
                </a:solidFill>
                <a:latin typeface="Calibri" pitchFamily="34" charset="0"/>
                <a:ea typeface="Calibri" pitchFamily="34" charset="-122"/>
                <a:cs typeface="Calibri" pitchFamily="34" charset="-120"/>
              </a:rPr>
              <a:t>Reporting these is deliberate. A study showing only what worked is not much use to anyone assessing it.</a:t>
            </a:r>
            <a:endParaRPr lang="en-US" sz="1050" dirty="0"/>
          </a:p>
        </p:txBody>
      </p:sp>
      <p:sp>
        <p:nvSpPr>
          <p:cNvPr id="28" name="Text 25"/>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
        <p:nvSpPr>
          <p:cNvPr id="29" name="Text 26"/>
          <p:cNvSpPr/>
          <p:nvPr/>
        </p:nvSpPr>
        <p:spPr>
          <a:xfrm>
            <a:off x="10954512" y="6400800"/>
            <a:ext cx="548640" cy="256032"/>
          </a:xfrm>
          <a:prstGeom prst="rect">
            <a:avLst/>
          </a:prstGeom>
          <a:noFill/>
          <a:ln/>
        </p:spPr>
        <p:txBody>
          <a:bodyPr wrap="square" lIns="0" tIns="0" rIns="0" bIns="0" rtlCol="0" anchor="ctr"/>
          <a:lstStyle/>
          <a:p>
            <a:pPr algn="r" indent="0" marL="0">
              <a:buNone/>
            </a:pPr>
            <a:r>
              <a:rPr lang="en-US" sz="950" dirty="0">
                <a:solidFill>
                  <a:srgbClr val="8A9099"/>
                </a:solidFill>
                <a:latin typeface="Courier New" pitchFamily="34" charset="0"/>
                <a:ea typeface="Courier New" pitchFamily="34" charset="-122"/>
                <a:cs typeface="Courier New" pitchFamily="34" charset="-120"/>
              </a:rPr>
              <a:t>9</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A21"/>
        </a:solidFill>
      </p:bgPr>
    </p:bg>
    <p:spTree>
      <p:nvGrpSpPr>
        <p:cNvPr id="1" name=""/>
        <p:cNvGrpSpPr/>
        <p:nvPr/>
      </p:nvGrpSpPr>
      <p:grpSpPr>
        <a:xfrm>
          <a:off x="0" y="0"/>
          <a:ext cx="0" cy="0"/>
          <a:chOff x="0" y="0"/>
          <a:chExt cx="0" cy="0"/>
        </a:xfrm>
      </p:grpSpPr>
      <p:sp>
        <p:nvSpPr>
          <p:cNvPr id="2" name="Text 0"/>
          <p:cNvSpPr/>
          <p:nvPr/>
        </p:nvSpPr>
        <p:spPr>
          <a:xfrm>
            <a:off x="658368" y="621792"/>
            <a:ext cx="7315200" cy="274320"/>
          </a:xfrm>
          <a:prstGeom prst="rect">
            <a:avLst/>
          </a:prstGeom>
          <a:noFill/>
          <a:ln/>
        </p:spPr>
        <p:txBody>
          <a:bodyPr wrap="square" lIns="0" tIns="0" rIns="0" bIns="0" rtlCol="0" anchor="ctr"/>
          <a:lstStyle/>
          <a:p>
            <a:pPr indent="0" marL="0">
              <a:buNone/>
            </a:pPr>
            <a:r>
              <a:rPr lang="en-US" sz="1050" b="1" spc="200" kern="0" dirty="0">
                <a:solidFill>
                  <a:srgbClr val="9BB4C9"/>
                </a:solidFill>
                <a:latin typeface="Courier New" pitchFamily="34" charset="0"/>
                <a:ea typeface="Courier New" pitchFamily="34" charset="-122"/>
                <a:cs typeface="Courier New" pitchFamily="34" charset="-120"/>
              </a:rPr>
              <a:t>CONCLUSION</a:t>
            </a:r>
            <a:endParaRPr lang="en-US" sz="1050" dirty="0"/>
          </a:p>
        </p:txBody>
      </p:sp>
      <p:sp>
        <p:nvSpPr>
          <p:cNvPr id="3" name="Text 1"/>
          <p:cNvSpPr/>
          <p:nvPr/>
        </p:nvSpPr>
        <p:spPr>
          <a:xfrm>
            <a:off x="658368" y="950976"/>
            <a:ext cx="10698480" cy="56692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this work contributes, and what comes next</a:t>
            </a:r>
            <a:endParaRPr lang="en-US" sz="2800" dirty="0"/>
          </a:p>
        </p:txBody>
      </p:sp>
      <p:sp>
        <p:nvSpPr>
          <p:cNvPr id="4" name="Shape 2"/>
          <p:cNvSpPr/>
          <p:nvPr/>
        </p:nvSpPr>
        <p:spPr>
          <a:xfrm>
            <a:off x="658368" y="1828800"/>
            <a:ext cx="10881360" cy="914400"/>
          </a:xfrm>
          <a:prstGeom prst="roundRect">
            <a:avLst>
              <a:gd name="adj" fmla="val 6000"/>
            </a:avLst>
          </a:prstGeom>
          <a:solidFill>
            <a:srgbClr val="1B2530"/>
          </a:solidFill>
          <a:ln w="9525">
            <a:solidFill>
              <a:srgbClr val="2C3742"/>
            </a:solidFill>
            <a:prstDash val="solid"/>
          </a:ln>
        </p:spPr>
      </p:sp>
      <p:sp>
        <p:nvSpPr>
          <p:cNvPr id="5" name="Shape 3"/>
          <p:cNvSpPr/>
          <p:nvPr/>
        </p:nvSpPr>
        <p:spPr>
          <a:xfrm>
            <a:off x="914400" y="2112264"/>
            <a:ext cx="329184" cy="329184"/>
          </a:xfrm>
          <a:prstGeom prst="ellipse">
            <a:avLst/>
          </a:prstGeom>
          <a:solidFill>
            <a:srgbClr val="1F5C8B"/>
          </a:solidFill>
          <a:ln w="12700">
            <a:solidFill>
              <a:srgbClr val="1F5C8B"/>
            </a:solidFill>
            <a:prstDash val="solid"/>
          </a:ln>
        </p:spPr>
      </p:sp>
      <p:sp>
        <p:nvSpPr>
          <p:cNvPr id="6" name="Text 4"/>
          <p:cNvSpPr/>
          <p:nvPr/>
        </p:nvSpPr>
        <p:spPr>
          <a:xfrm>
            <a:off x="914400" y="2112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463040" y="1956816"/>
            <a:ext cx="969264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Trajectory-native multi-task modelling</a:t>
            </a:r>
            <a:endParaRPr lang="en-US" sz="1500" dirty="0"/>
          </a:p>
        </p:txBody>
      </p:sp>
      <p:sp>
        <p:nvSpPr>
          <p:cNvPr id="8" name="Text 6"/>
          <p:cNvSpPr/>
          <p:nvPr/>
        </p:nvSpPr>
        <p:spPr>
          <a:xfrm>
            <a:off x="1463040" y="2286000"/>
            <a:ext cx="9692640" cy="384048"/>
          </a:xfrm>
          <a:prstGeom prst="rect">
            <a:avLst/>
          </a:prstGeom>
          <a:noFill/>
          <a:ln/>
        </p:spPr>
        <p:txBody>
          <a:bodyPr wrap="square" lIns="0" tIns="0" rIns="0" bIns="0" rtlCol="0" anchor="ctr"/>
          <a:lstStyle/>
          <a:p>
            <a:pPr indent="0" marL="0">
              <a:buNone/>
            </a:pPr>
            <a:r>
              <a:rPr lang="en-US" sz="1150" dirty="0">
                <a:solidFill>
                  <a:srgbClr val="C4CCD6"/>
                </a:solidFill>
                <a:latin typeface="Calibri" pitchFamily="34" charset="0"/>
                <a:ea typeface="Calibri" pitchFamily="34" charset="-122"/>
                <a:cs typeface="Calibri" pitchFamily="34" charset="-120"/>
              </a:rPr>
              <a:t>Four correlated attributes from one shared encoder reading the raw signal, at 3.73× fewer parameters.</a:t>
            </a:r>
            <a:endParaRPr lang="en-US" sz="1150" dirty="0"/>
          </a:p>
        </p:txBody>
      </p:sp>
      <p:sp>
        <p:nvSpPr>
          <p:cNvPr id="9" name="Shape 7"/>
          <p:cNvSpPr/>
          <p:nvPr/>
        </p:nvSpPr>
        <p:spPr>
          <a:xfrm>
            <a:off x="658368" y="2880360"/>
            <a:ext cx="10881360" cy="914400"/>
          </a:xfrm>
          <a:prstGeom prst="roundRect">
            <a:avLst>
              <a:gd name="adj" fmla="val 6000"/>
            </a:avLst>
          </a:prstGeom>
          <a:solidFill>
            <a:srgbClr val="1B2530"/>
          </a:solidFill>
          <a:ln w="9525">
            <a:solidFill>
              <a:srgbClr val="2C3742"/>
            </a:solidFill>
            <a:prstDash val="solid"/>
          </a:ln>
        </p:spPr>
      </p:sp>
      <p:sp>
        <p:nvSpPr>
          <p:cNvPr id="10" name="Shape 8"/>
          <p:cNvSpPr/>
          <p:nvPr/>
        </p:nvSpPr>
        <p:spPr>
          <a:xfrm>
            <a:off x="914400" y="3163824"/>
            <a:ext cx="329184" cy="329184"/>
          </a:xfrm>
          <a:prstGeom prst="ellipse">
            <a:avLst/>
          </a:prstGeom>
          <a:solidFill>
            <a:srgbClr val="1F6F55"/>
          </a:solidFill>
          <a:ln w="12700">
            <a:solidFill>
              <a:srgbClr val="1F6F55"/>
            </a:solidFill>
            <a:prstDash val="solid"/>
          </a:ln>
        </p:spPr>
      </p:sp>
      <p:sp>
        <p:nvSpPr>
          <p:cNvPr id="11" name="Text 9"/>
          <p:cNvSpPr/>
          <p:nvPr/>
        </p:nvSpPr>
        <p:spPr>
          <a:xfrm>
            <a:off x="914400"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1463040" y="3008376"/>
            <a:ext cx="969264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Uncertainty that responds to real regime shift</a:t>
            </a:r>
            <a:endParaRPr lang="en-US" sz="1500" dirty="0"/>
          </a:p>
        </p:txBody>
      </p:sp>
      <p:sp>
        <p:nvSpPr>
          <p:cNvPr id="13" name="Text 11"/>
          <p:cNvSpPr/>
          <p:nvPr/>
        </p:nvSpPr>
        <p:spPr>
          <a:xfrm>
            <a:off x="1463040" y="3337560"/>
            <a:ext cx="9692640" cy="384048"/>
          </a:xfrm>
          <a:prstGeom prst="rect">
            <a:avLst/>
          </a:prstGeom>
          <a:noFill/>
          <a:ln/>
        </p:spPr>
        <p:txBody>
          <a:bodyPr wrap="square" lIns="0" tIns="0" rIns="0" bIns="0" rtlCol="0" anchor="ctr"/>
          <a:lstStyle/>
          <a:p>
            <a:pPr indent="0" marL="0">
              <a:buNone/>
            </a:pPr>
            <a:r>
              <a:rPr lang="en-US" sz="1150" dirty="0">
                <a:solidFill>
                  <a:srgbClr val="C4CCD6"/>
                </a:solidFill>
                <a:latin typeface="Calibri" pitchFamily="34" charset="0"/>
                <a:ea typeface="Calibri" pitchFamily="34" charset="-122"/>
                <a:cs typeface="Calibri" pitchFamily="34" charset="-120"/>
              </a:rPr>
              <a:t>Flat on an unseen product inside the trained range, sharply higher outside it.</a:t>
            </a:r>
            <a:endParaRPr lang="en-US" sz="1150" dirty="0"/>
          </a:p>
        </p:txBody>
      </p:sp>
      <p:sp>
        <p:nvSpPr>
          <p:cNvPr id="14" name="Shape 12"/>
          <p:cNvSpPr/>
          <p:nvPr/>
        </p:nvSpPr>
        <p:spPr>
          <a:xfrm>
            <a:off x="658368" y="3931920"/>
            <a:ext cx="10881360" cy="914400"/>
          </a:xfrm>
          <a:prstGeom prst="roundRect">
            <a:avLst>
              <a:gd name="adj" fmla="val 6000"/>
            </a:avLst>
          </a:prstGeom>
          <a:solidFill>
            <a:srgbClr val="1B2530"/>
          </a:solidFill>
          <a:ln w="9525">
            <a:solidFill>
              <a:srgbClr val="2C3742"/>
            </a:solidFill>
            <a:prstDash val="solid"/>
          </a:ln>
        </p:spPr>
      </p:sp>
      <p:sp>
        <p:nvSpPr>
          <p:cNvPr id="15" name="Shape 13"/>
          <p:cNvSpPr/>
          <p:nvPr/>
        </p:nvSpPr>
        <p:spPr>
          <a:xfrm>
            <a:off x="914400" y="4215384"/>
            <a:ext cx="329184" cy="329184"/>
          </a:xfrm>
          <a:prstGeom prst="ellipse">
            <a:avLst/>
          </a:prstGeom>
          <a:solidFill>
            <a:srgbClr val="AD6425"/>
          </a:solidFill>
          <a:ln w="12700">
            <a:solidFill>
              <a:srgbClr val="AD6425"/>
            </a:solidFill>
            <a:prstDash val="solid"/>
          </a:ln>
        </p:spPr>
      </p:sp>
      <p:sp>
        <p:nvSpPr>
          <p:cNvPr id="16" name="Text 14"/>
          <p:cNvSpPr/>
          <p:nvPr/>
        </p:nvSpPr>
        <p:spPr>
          <a:xfrm>
            <a:off x="914400" y="4215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1463040" y="4059936"/>
            <a:ext cx="969264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Explanations conditioned on confidence</a:t>
            </a:r>
            <a:endParaRPr lang="en-US" sz="1500" dirty="0"/>
          </a:p>
        </p:txBody>
      </p:sp>
      <p:sp>
        <p:nvSpPr>
          <p:cNvPr id="18" name="Text 16"/>
          <p:cNvSpPr/>
          <p:nvPr/>
        </p:nvSpPr>
        <p:spPr>
          <a:xfrm>
            <a:off x="1463040" y="4389120"/>
            <a:ext cx="9692640" cy="384048"/>
          </a:xfrm>
          <a:prstGeom prst="rect">
            <a:avLst/>
          </a:prstGeom>
          <a:noFill/>
          <a:ln/>
        </p:spPr>
        <p:txBody>
          <a:bodyPr wrap="square" lIns="0" tIns="0" rIns="0" bIns="0" rtlCol="0" anchor="ctr"/>
          <a:lstStyle/>
          <a:p>
            <a:pPr indent="0" marL="0">
              <a:buNone/>
            </a:pPr>
            <a:r>
              <a:rPr lang="en-US" sz="1150" dirty="0">
                <a:solidFill>
                  <a:srgbClr val="C4CCD6"/>
                </a:solidFill>
                <a:latin typeface="Calibri" pitchFamily="34" charset="0"/>
                <a:ea typeface="Calibri" pitchFamily="34" charset="-122"/>
                <a:cs typeface="Calibri" pitchFamily="34" charset="-120"/>
              </a:rPr>
              <a:t>The model reorders which sensors it relies on as confidence falls, onto the mechanically relevant ones.</a:t>
            </a:r>
            <a:endParaRPr lang="en-US" sz="1150" dirty="0"/>
          </a:p>
        </p:txBody>
      </p:sp>
      <p:sp>
        <p:nvSpPr>
          <p:cNvPr id="19" name="Text 17"/>
          <p:cNvSpPr/>
          <p:nvPr/>
        </p:nvSpPr>
        <p:spPr>
          <a:xfrm>
            <a:off x="658368" y="5029200"/>
            <a:ext cx="5486400" cy="219456"/>
          </a:xfrm>
          <a:prstGeom prst="rect">
            <a:avLst/>
          </a:prstGeom>
          <a:noFill/>
          <a:ln/>
        </p:spPr>
        <p:txBody>
          <a:bodyPr wrap="square" lIns="0" tIns="0" rIns="0" bIns="0" rtlCol="0" anchor="ctr"/>
          <a:lstStyle/>
          <a:p>
            <a:pPr indent="0" marL="0">
              <a:buNone/>
            </a:pPr>
            <a:r>
              <a:rPr lang="en-US" sz="850" spc="120" kern="0" dirty="0">
                <a:solidFill>
                  <a:srgbClr val="7E94A8"/>
                </a:solidFill>
                <a:latin typeface="Courier New" pitchFamily="34" charset="0"/>
                <a:ea typeface="Courier New" pitchFamily="34" charset="-122"/>
                <a:cs typeface="Courier New" pitchFamily="34" charset="-120"/>
              </a:rPr>
              <a:t>FUTURE WORK</a:t>
            </a:r>
            <a:endParaRPr lang="en-US" sz="850" dirty="0"/>
          </a:p>
        </p:txBody>
      </p:sp>
      <p:sp>
        <p:nvSpPr>
          <p:cNvPr id="20" name="Text 18"/>
          <p:cNvSpPr/>
          <p:nvPr/>
        </p:nvSpPr>
        <p:spPr>
          <a:xfrm>
            <a:off x="658368" y="5321808"/>
            <a:ext cx="32004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Nested cross-validation with a search</a:t>
            </a:r>
            <a:endParaRPr lang="en-US" sz="1100" dirty="0"/>
          </a:p>
        </p:txBody>
      </p:sp>
      <p:sp>
        <p:nvSpPr>
          <p:cNvPr id="21" name="Text 19"/>
          <p:cNvSpPr/>
          <p:nvPr/>
        </p:nvSpPr>
        <p:spPr>
          <a:xfrm>
            <a:off x="3904488" y="5321808"/>
            <a:ext cx="2194560" cy="256032"/>
          </a:xfrm>
          <a:prstGeom prst="rect">
            <a:avLst/>
          </a:prstGeom>
          <a:noFill/>
          <a:ln/>
        </p:spPr>
        <p:txBody>
          <a:bodyPr wrap="square" lIns="0" tIns="0" rIns="0" bIns="0" rtlCol="0" anchor="ctr"/>
          <a:lstStyle/>
          <a:p>
            <a:pPr indent="0" marL="0">
              <a:buNone/>
            </a:pPr>
            <a:r>
              <a:rPr lang="en-US" sz="1000" dirty="0">
                <a:solidFill>
                  <a:srgbClr val="9BB4C9"/>
                </a:solidFill>
                <a:latin typeface="Calibri" pitchFamily="34" charset="0"/>
                <a:ea typeface="Calibri" pitchFamily="34" charset="-122"/>
                <a:cs typeface="Calibri" pitchFamily="34" charset="-120"/>
              </a:rPr>
              <a:t>gives the tests usable power</a:t>
            </a:r>
            <a:endParaRPr lang="en-US" sz="1000" dirty="0"/>
          </a:p>
        </p:txBody>
      </p:sp>
      <p:sp>
        <p:nvSpPr>
          <p:cNvPr id="22" name="Text 20"/>
          <p:cNvSpPr/>
          <p:nvPr/>
        </p:nvSpPr>
        <p:spPr>
          <a:xfrm>
            <a:off x="6190488" y="5321808"/>
            <a:ext cx="32004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Targeted collection at the extremes</a:t>
            </a:r>
            <a:endParaRPr lang="en-US" sz="1100" dirty="0"/>
          </a:p>
        </p:txBody>
      </p:sp>
      <p:sp>
        <p:nvSpPr>
          <p:cNvPr id="23" name="Text 21"/>
          <p:cNvSpPr/>
          <p:nvPr/>
        </p:nvSpPr>
        <p:spPr>
          <a:xfrm>
            <a:off x="9436608" y="5321808"/>
            <a:ext cx="2194560" cy="256032"/>
          </a:xfrm>
          <a:prstGeom prst="rect">
            <a:avLst/>
          </a:prstGeom>
          <a:noFill/>
          <a:ln/>
        </p:spPr>
        <p:txBody>
          <a:bodyPr wrap="square" lIns="0" tIns="0" rIns="0" bIns="0" rtlCol="0" anchor="ctr"/>
          <a:lstStyle/>
          <a:p>
            <a:pPr indent="0" marL="0">
              <a:buNone/>
            </a:pPr>
            <a:r>
              <a:rPr lang="en-US" sz="1000" dirty="0">
                <a:solidFill>
                  <a:srgbClr val="9BB4C9"/>
                </a:solidFill>
                <a:latin typeface="Calibri" pitchFamily="34" charset="0"/>
                <a:ea typeface="Calibri" pitchFamily="34" charset="-122"/>
                <a:cs typeface="Calibri" pitchFamily="34" charset="-120"/>
              </a:rPr>
              <a:t>the most valuable batches, not just more</a:t>
            </a:r>
            <a:endParaRPr lang="en-US" sz="1000" dirty="0"/>
          </a:p>
        </p:txBody>
      </p:sp>
      <p:sp>
        <p:nvSpPr>
          <p:cNvPr id="24" name="Text 22"/>
          <p:cNvSpPr/>
          <p:nvPr/>
        </p:nvSpPr>
        <p:spPr>
          <a:xfrm>
            <a:off x="658368" y="5824728"/>
            <a:ext cx="32004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Hybrid uncertainty estimation</a:t>
            </a:r>
            <a:endParaRPr lang="en-US" sz="1100" dirty="0"/>
          </a:p>
        </p:txBody>
      </p:sp>
      <p:sp>
        <p:nvSpPr>
          <p:cNvPr id="25" name="Text 23"/>
          <p:cNvSpPr/>
          <p:nvPr/>
        </p:nvSpPr>
        <p:spPr>
          <a:xfrm>
            <a:off x="3904488" y="5824728"/>
            <a:ext cx="2194560" cy="256032"/>
          </a:xfrm>
          <a:prstGeom prst="rect">
            <a:avLst/>
          </a:prstGeom>
          <a:noFill/>
          <a:ln/>
        </p:spPr>
        <p:txBody>
          <a:bodyPr wrap="square" lIns="0" tIns="0" rIns="0" bIns="0" rtlCol="0" anchor="ctr"/>
          <a:lstStyle/>
          <a:p>
            <a:pPr indent="0" marL="0">
              <a:buNone/>
            </a:pPr>
            <a:r>
              <a:rPr lang="en-US" sz="1000" dirty="0">
                <a:solidFill>
                  <a:srgbClr val="9BB4C9"/>
                </a:solidFill>
                <a:latin typeface="Calibri" pitchFamily="34" charset="0"/>
                <a:ea typeface="Calibri" pitchFamily="34" charset="-122"/>
                <a:cs typeface="Calibri" pitchFamily="34" charset="-120"/>
              </a:rPr>
              <a:t>ensemble robustness at single-pass cost</a:t>
            </a:r>
            <a:endParaRPr lang="en-US" sz="1000" dirty="0"/>
          </a:p>
        </p:txBody>
      </p:sp>
      <p:sp>
        <p:nvSpPr>
          <p:cNvPr id="26" name="Text 24"/>
          <p:cNvSpPr/>
          <p:nvPr/>
        </p:nvSpPr>
        <p:spPr>
          <a:xfrm>
            <a:off x="6190488" y="5824728"/>
            <a:ext cx="32004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Cross-site validation on a second press</a:t>
            </a:r>
            <a:endParaRPr lang="en-US" sz="1100" dirty="0"/>
          </a:p>
        </p:txBody>
      </p:sp>
      <p:sp>
        <p:nvSpPr>
          <p:cNvPr id="27" name="Text 25"/>
          <p:cNvSpPr/>
          <p:nvPr/>
        </p:nvSpPr>
        <p:spPr>
          <a:xfrm>
            <a:off x="9436608" y="5824728"/>
            <a:ext cx="2194560" cy="256032"/>
          </a:xfrm>
          <a:prstGeom prst="rect">
            <a:avLst/>
          </a:prstGeom>
          <a:noFill/>
          <a:ln/>
        </p:spPr>
        <p:txBody>
          <a:bodyPr wrap="square" lIns="0" tIns="0" rIns="0" bIns="0" rtlCol="0" anchor="ctr"/>
          <a:lstStyle/>
          <a:p>
            <a:pPr indent="0" marL="0">
              <a:buNone/>
            </a:pPr>
            <a:r>
              <a:rPr lang="en-US" sz="1000" dirty="0">
                <a:solidFill>
                  <a:srgbClr val="9BB4C9"/>
                </a:solidFill>
                <a:latin typeface="Calibri" pitchFamily="34" charset="0"/>
                <a:ea typeface="Calibri" pitchFamily="34" charset="-122"/>
                <a:cs typeface="Calibri" pitchFamily="34" charset="-120"/>
              </a:rPr>
              <a:t>before any claim of generality</a:t>
            </a:r>
            <a:endParaRPr lang="en-US" sz="1000" dirty="0"/>
          </a:p>
        </p:txBody>
      </p:sp>
      <p:sp>
        <p:nvSpPr>
          <p:cNvPr id="28" name="Text 26"/>
          <p:cNvSpPr/>
          <p:nvPr/>
        </p:nvSpPr>
        <p:spPr>
          <a:xfrm>
            <a:off x="658368" y="6053328"/>
            <a:ext cx="10698480" cy="256032"/>
          </a:xfrm>
          <a:prstGeom prst="rect">
            <a:avLst/>
          </a:prstGeom>
          <a:noFill/>
          <a:ln/>
        </p:spPr>
        <p:txBody>
          <a:bodyPr wrap="square" lIns="0" tIns="0" rIns="0" bIns="0" rtlCol="0" anchor="ctr"/>
          <a:lstStyle/>
          <a:p>
            <a:pPr indent="0" marL="0">
              <a:buNone/>
            </a:pPr>
            <a:r>
              <a:rPr lang="en-US" sz="1100" i="1" dirty="0">
                <a:solidFill>
                  <a:srgbClr val="9BB4C9"/>
                </a:solidFill>
                <a:latin typeface="Calibri" pitchFamily="34" charset="0"/>
                <a:ea typeface="Calibri" pitchFamily="34" charset="-122"/>
                <a:cs typeface="Calibri" pitchFamily="34" charset="-120"/>
              </a:rPr>
              <a:t>Not a uniformly more accurate predictor. A model whose confidence and explanations can be trusted, evaluated honestly.</a:t>
            </a:r>
            <a:endParaRPr lang="en-US" sz="1100" dirty="0"/>
          </a:p>
        </p:txBody>
      </p:sp>
      <p:sp>
        <p:nvSpPr>
          <p:cNvPr id="29" name="Text 27"/>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
        <p:nvSpPr>
          <p:cNvPr id="30" name="Text 28"/>
          <p:cNvSpPr/>
          <p:nvPr/>
        </p:nvSpPr>
        <p:spPr>
          <a:xfrm>
            <a:off x="10954512" y="6400800"/>
            <a:ext cx="548640" cy="256032"/>
          </a:xfrm>
          <a:prstGeom prst="rect">
            <a:avLst/>
          </a:prstGeom>
          <a:noFill/>
          <a:ln/>
        </p:spPr>
        <p:txBody>
          <a:bodyPr wrap="square" lIns="0" tIns="0" rIns="0" bIns="0" rtlCol="0" anchor="ctr"/>
          <a:lstStyle/>
          <a:p>
            <a:pPr algn="r" indent="0" marL="0">
              <a:buNone/>
            </a:pPr>
            <a:r>
              <a:rPr lang="en-US" sz="950" dirty="0">
                <a:solidFill>
                  <a:srgbClr val="8A9099"/>
                </a:solidFill>
                <a:latin typeface="Courier New" pitchFamily="34" charset="0"/>
                <a:ea typeface="Courier New" pitchFamily="34" charset="-122"/>
                <a:cs typeface="Courier New" pitchFamily="34" charset="-120"/>
              </a:rPr>
              <a:t>10</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58368" y="347472"/>
            <a:ext cx="8229600" cy="237744"/>
          </a:xfrm>
          <a:prstGeom prst="rect">
            <a:avLst/>
          </a:prstGeom>
          <a:noFill/>
          <a:ln/>
        </p:spPr>
        <p:txBody>
          <a:bodyPr wrap="square" lIns="0" tIns="0" rIns="0" bIns="0" rtlCol="0" anchor="ctr"/>
          <a:lstStyle/>
          <a:p>
            <a:pPr indent="0" marL="0">
              <a:buNone/>
            </a:pPr>
            <a:r>
              <a:rPr lang="en-US" sz="1050" b="1" spc="200" kern="0" dirty="0">
                <a:solidFill>
                  <a:srgbClr val="1F5C8B"/>
                </a:solidFill>
                <a:latin typeface="Courier New" pitchFamily="34" charset="0"/>
                <a:ea typeface="Courier New" pitchFamily="34" charset="-122"/>
                <a:cs typeface="Courier New" pitchFamily="34" charset="-120"/>
              </a:rPr>
              <a:t>REFERENCES</a:t>
            </a:r>
            <a:endParaRPr lang="en-US" sz="1050" dirty="0"/>
          </a:p>
        </p:txBody>
      </p:sp>
      <p:sp>
        <p:nvSpPr>
          <p:cNvPr id="3" name="Text 1"/>
          <p:cNvSpPr/>
          <p:nvPr/>
        </p:nvSpPr>
        <p:spPr>
          <a:xfrm>
            <a:off x="658368" y="676656"/>
            <a:ext cx="10844784" cy="548640"/>
          </a:xfrm>
          <a:prstGeom prst="rect">
            <a:avLst/>
          </a:prstGeom>
          <a:noFill/>
          <a:ln/>
        </p:spPr>
        <p:txBody>
          <a:bodyPr wrap="square" lIns="0" tIns="0" rIns="0" bIns="0" rtlCol="0" anchor="t"/>
          <a:lstStyle/>
          <a:p>
            <a:pPr indent="0" marL="0">
              <a:buNone/>
            </a:pPr>
            <a:r>
              <a:rPr lang="en-US" sz="3000" b="1" dirty="0">
                <a:solidFill>
                  <a:srgbClr val="141A21"/>
                </a:solidFill>
                <a:latin typeface="Cambria" pitchFamily="34" charset="0"/>
                <a:ea typeface="Cambria" pitchFamily="34" charset="-122"/>
                <a:cs typeface="Cambria" pitchFamily="34" charset="-120"/>
              </a:rPr>
              <a:t>Harvard referencing</a:t>
            </a:r>
            <a:endParaRPr lang="en-US" sz="3000" dirty="0"/>
          </a:p>
        </p:txBody>
      </p:sp>
      <p:sp>
        <p:nvSpPr>
          <p:cNvPr id="4" name="Text 2"/>
          <p:cNvSpPr/>
          <p:nvPr/>
        </p:nvSpPr>
        <p:spPr>
          <a:xfrm>
            <a:off x="658368" y="1965960"/>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Amini, A., Schwarting, W., Soleimany, A. and Rus, D. (2020) 'Deep evidential regression', in Advances in Neural Information Processing Systems, 33, pp. 14927–14937.</a:t>
            </a:r>
            <a:endParaRPr lang="en-US" sz="900" dirty="0"/>
          </a:p>
        </p:txBody>
      </p:sp>
      <p:sp>
        <p:nvSpPr>
          <p:cNvPr id="5" name="Text 3"/>
          <p:cNvSpPr/>
          <p:nvPr/>
        </p:nvSpPr>
        <p:spPr>
          <a:xfrm>
            <a:off x="658368" y="2624328"/>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Bai, S., Kolter, J. Z. and Koltun, V. (2018) 'An empirical evaluation of generic convolutional and recurrent networks for sequence modeling', arXiv preprint arXiv:1803.01271.</a:t>
            </a:r>
            <a:endParaRPr lang="en-US" sz="900" dirty="0"/>
          </a:p>
        </p:txBody>
      </p:sp>
      <p:sp>
        <p:nvSpPr>
          <p:cNvPr id="6" name="Text 4"/>
          <p:cNvSpPr/>
          <p:nvPr/>
        </p:nvSpPr>
        <p:spPr>
          <a:xfrm>
            <a:off x="658368" y="3282696"/>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Caruana, R. (1997) 'Multitask learning', Machine Learning, 28(1), pp. 41–75.</a:t>
            </a:r>
            <a:endParaRPr lang="en-US" sz="900" dirty="0"/>
          </a:p>
        </p:txBody>
      </p:sp>
      <p:sp>
        <p:nvSpPr>
          <p:cNvPr id="7" name="Text 5"/>
          <p:cNvSpPr/>
          <p:nvPr/>
        </p:nvSpPr>
        <p:spPr>
          <a:xfrm>
            <a:off x="658368" y="3941064"/>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Guo, C., Pleiss, G., Sun, Y. and Weinberger, K. Q. (2017) 'On calibration of modern neural networks', in Proceedings of the 34th International Conference on Machine Learning, 70, pp. 1321–1330.</a:t>
            </a:r>
            <a:endParaRPr lang="en-US" sz="900" dirty="0"/>
          </a:p>
        </p:txBody>
      </p:sp>
      <p:sp>
        <p:nvSpPr>
          <p:cNvPr id="8" name="Text 6"/>
          <p:cNvSpPr/>
          <p:nvPr/>
        </p:nvSpPr>
        <p:spPr>
          <a:xfrm>
            <a:off x="658368" y="4599432"/>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Lakshminarayanan, B., Pritzel, A. and Blundell, C. (2017) 'Simple and scalable predictive uncertainty estimation using deep ensembles', in Advances in Neural Information Processing Systems, 30, pp. 6402–6413.</a:t>
            </a:r>
            <a:endParaRPr lang="en-US" sz="900" dirty="0"/>
          </a:p>
        </p:txBody>
      </p:sp>
      <p:sp>
        <p:nvSpPr>
          <p:cNvPr id="9" name="Text 7"/>
          <p:cNvSpPr/>
          <p:nvPr/>
        </p:nvSpPr>
        <p:spPr>
          <a:xfrm>
            <a:off x="658368" y="5257800"/>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Lundberg, S. M. and Lee, S.-I. (2017) 'A unified approach to interpreting model predictions', in Advances in Neural Information Processing Systems, 30, pp. 4765–4774.</a:t>
            </a:r>
            <a:endParaRPr lang="en-US" sz="900" dirty="0"/>
          </a:p>
        </p:txBody>
      </p:sp>
      <p:sp>
        <p:nvSpPr>
          <p:cNvPr id="10" name="Text 8"/>
          <p:cNvSpPr/>
          <p:nvPr/>
        </p:nvSpPr>
        <p:spPr>
          <a:xfrm>
            <a:off x="6236208" y="1965960"/>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Nadeau, C. and Bengio, Y. (2003) 'Inference for the generalization error', Machine Learning, 52(3), pp. 239–281.</a:t>
            </a:r>
            <a:endParaRPr lang="en-US" sz="900" dirty="0"/>
          </a:p>
        </p:txBody>
      </p:sp>
      <p:sp>
        <p:nvSpPr>
          <p:cNvPr id="11" name="Text 9"/>
          <p:cNvSpPr/>
          <p:nvPr/>
        </p:nvSpPr>
        <p:spPr>
          <a:xfrm>
            <a:off x="6236208" y="2624328"/>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Ovadia, Y., Fertig, E., Ren, J., Nado, Z., Sculley, D., Nowozin, S., Dillon, J. V., Lakshminarayanan, B. and Snoek, J. (2019) 'Can you trust your model's uncertainty? Evaluating predictive uncertainty under dataset shift', in Advances in Neural Information Processing Systems, 32, pp. 13991–14002.</a:t>
            </a:r>
            <a:endParaRPr lang="en-US" sz="900" dirty="0"/>
          </a:p>
        </p:txBody>
      </p:sp>
      <p:sp>
        <p:nvSpPr>
          <p:cNvPr id="12" name="Text 10"/>
          <p:cNvSpPr/>
          <p:nvPr/>
        </p:nvSpPr>
        <p:spPr>
          <a:xfrm>
            <a:off x="6236208" y="3282696"/>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Rudin, C., Chen, C., Chen, Z., Huang, H., Semenova, L. and Zhong, C. (2022) 'Interpretable machine learning: fundamental principles and 10 grand challenges', Statistics Surveys, 16, pp. 1–85.</a:t>
            </a:r>
            <a:endParaRPr lang="en-US" sz="900" dirty="0"/>
          </a:p>
        </p:txBody>
      </p:sp>
      <p:sp>
        <p:nvSpPr>
          <p:cNvPr id="13" name="Text 11"/>
          <p:cNvSpPr/>
          <p:nvPr/>
        </p:nvSpPr>
        <p:spPr>
          <a:xfrm>
            <a:off x="6236208" y="3941064"/>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Susto, G. A. and McLoone, S. (2015) 'Slow release drug dissolution profile prediction in pharmaceutical manufacturing: a multivariate and machine learning approach', Computers in Biology and Medicine, 63, pp. 300–308.</a:t>
            </a:r>
            <a:endParaRPr lang="en-US" sz="900" dirty="0"/>
          </a:p>
        </p:txBody>
      </p:sp>
      <p:sp>
        <p:nvSpPr>
          <p:cNvPr id="14" name="Text 12"/>
          <p:cNvSpPr/>
          <p:nvPr/>
        </p:nvSpPr>
        <p:spPr>
          <a:xfrm>
            <a:off x="6236208" y="4599432"/>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Wang, K., Chen, X., Li, N., Feng, H., Liu, X., Wang, Y. et al. (2025) 'AI-integrated IQPD framework of quality prediction and diagnostics in small-sample multi-unit pharmaceutical manufacturing', Acta Pharmaceutica Sinica B, 15(8), pp. 4193–4209.</a:t>
            </a:r>
            <a:endParaRPr lang="en-US" sz="900" dirty="0"/>
          </a:p>
        </p:txBody>
      </p:sp>
      <p:sp>
        <p:nvSpPr>
          <p:cNvPr id="15" name="Text 13"/>
          <p:cNvSpPr/>
          <p:nvPr/>
        </p:nvSpPr>
        <p:spPr>
          <a:xfrm>
            <a:off x="6236208" y="5257800"/>
            <a:ext cx="5257800" cy="621792"/>
          </a:xfrm>
          <a:prstGeom prst="rect">
            <a:avLst/>
          </a:prstGeom>
          <a:noFill/>
          <a:ln/>
        </p:spPr>
        <p:txBody>
          <a:bodyPr wrap="square" lIns="0" tIns="0" rIns="0" bIns="0" rtlCol="0" anchor="t"/>
          <a:lstStyle/>
          <a:p>
            <a:pPr indent="0" marL="0">
              <a:buNone/>
            </a:pPr>
            <a:r>
              <a:rPr lang="en-US" sz="900" dirty="0">
                <a:solidFill>
                  <a:srgbClr val="565D67"/>
                </a:solidFill>
                <a:latin typeface="Calibri" pitchFamily="34" charset="0"/>
                <a:ea typeface="Calibri" pitchFamily="34" charset="-122"/>
                <a:cs typeface="Calibri" pitchFamily="34" charset="-120"/>
              </a:rPr>
              <a:t>Žagar, J. and Mihelič, J. (2022) 'Big data collection in pharmaceutical manufacturing and its use for product quality predictions', Scientific Data, 9(1), 99.</a:t>
            </a:r>
            <a:endParaRPr lang="en-US" sz="900" dirty="0"/>
          </a:p>
        </p:txBody>
      </p:sp>
      <p:sp>
        <p:nvSpPr>
          <p:cNvPr id="16" name="Text 14"/>
          <p:cNvSpPr/>
          <p:nvPr/>
        </p:nvSpPr>
        <p:spPr>
          <a:xfrm>
            <a:off x="658368" y="6400800"/>
            <a:ext cx="6858000" cy="256032"/>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MT-TrajNet  ·  Arpit Joshua Elias  ·  24257567</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A21"/>
        </a:solidFill>
      </p:bgPr>
    </p:bg>
    <p:spTree>
      <p:nvGrpSpPr>
        <p:cNvPr id="1" name=""/>
        <p:cNvGrpSpPr/>
        <p:nvPr/>
      </p:nvGrpSpPr>
      <p:grpSpPr>
        <a:xfrm>
          <a:off x="0" y="0"/>
          <a:ext cx="0" cy="0"/>
          <a:chOff x="0" y="0"/>
          <a:chExt cx="0" cy="0"/>
        </a:xfrm>
      </p:grpSpPr>
      <p:pic>
        <p:nvPicPr>
          <p:cNvPr id="2" name="Image 0" descr="img/nci.png">    </p:cNvPr>
          <p:cNvPicPr>
            <a:picLocks noChangeAspect="1"/>
          </p:cNvPicPr>
          <p:nvPr/>
        </p:nvPicPr>
        <p:blipFill>
          <a:blip r:embed="rId1"/>
          <a:stretch>
            <a:fillRect/>
          </a:stretch>
        </p:blipFill>
        <p:spPr>
          <a:xfrm>
            <a:off x="10131552" y="548640"/>
            <a:ext cx="1371600" cy="1188720"/>
          </a:xfrm>
          <a:prstGeom prst="rect">
            <a:avLst/>
          </a:prstGeom>
        </p:spPr>
      </p:pic>
      <p:sp>
        <p:nvSpPr>
          <p:cNvPr id="3" name="Text 0"/>
          <p:cNvSpPr/>
          <p:nvPr/>
        </p:nvSpPr>
        <p:spPr>
          <a:xfrm>
            <a:off x="658368" y="2468880"/>
            <a:ext cx="8229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4" name="Shape 1"/>
          <p:cNvSpPr/>
          <p:nvPr/>
        </p:nvSpPr>
        <p:spPr>
          <a:xfrm>
            <a:off x="658368" y="3566160"/>
            <a:ext cx="2194560" cy="0"/>
          </a:xfrm>
          <a:prstGeom prst="line">
            <a:avLst/>
          </a:prstGeom>
          <a:noFill/>
          <a:ln w="31750">
            <a:solidFill>
              <a:srgbClr val="1F5C8B"/>
            </a:solidFill>
            <a:prstDash val="solid"/>
          </a:ln>
        </p:spPr>
      </p:sp>
      <p:sp>
        <p:nvSpPr>
          <p:cNvPr id="5" name="Text 2"/>
          <p:cNvSpPr/>
          <p:nvPr/>
        </p:nvSpPr>
        <p:spPr>
          <a:xfrm>
            <a:off x="658368" y="3977640"/>
            <a:ext cx="82296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Arpit Joshua Elias   ·   Student ID 24257567</a:t>
            </a:r>
            <a:endParaRPr lang="en-US" sz="1400" dirty="0"/>
          </a:p>
        </p:txBody>
      </p:sp>
      <p:sp>
        <p:nvSpPr>
          <p:cNvPr id="6" name="Text 3"/>
          <p:cNvSpPr/>
          <p:nvPr/>
        </p:nvSpPr>
        <p:spPr>
          <a:xfrm>
            <a:off x="658368" y="4315968"/>
            <a:ext cx="9601200" cy="274320"/>
          </a:xfrm>
          <a:prstGeom prst="rect">
            <a:avLst/>
          </a:prstGeom>
          <a:noFill/>
          <a:ln/>
        </p:spPr>
        <p:txBody>
          <a:bodyPr wrap="square" lIns="0" tIns="0" rIns="0" bIns="0" rtlCol="0" anchor="ctr"/>
          <a:lstStyle/>
          <a:p>
            <a:pPr indent="0" marL="0">
              <a:buNone/>
            </a:pPr>
            <a:r>
              <a:rPr lang="en-US" sz="1200" dirty="0">
                <a:solidFill>
                  <a:srgbClr val="9BB4C9"/>
                </a:solidFill>
                <a:latin typeface="Calibri" pitchFamily="34" charset="0"/>
                <a:ea typeface="Calibri" pitchFamily="34" charset="-122"/>
                <a:cs typeface="Calibri" pitchFamily="34" charset="-120"/>
              </a:rPr>
              <a:t>Supervisor: Arundev Vamadevan   ·   MSc in Artificial Intelligence, National College of Ireland</a:t>
            </a:r>
            <a:endParaRPr lang="en-US" sz="1200" dirty="0"/>
          </a:p>
        </p:txBody>
      </p:sp>
      <p:sp>
        <p:nvSpPr>
          <p:cNvPr id="7" name="Text 4"/>
          <p:cNvSpPr/>
          <p:nvPr/>
        </p:nvSpPr>
        <p:spPr>
          <a:xfrm>
            <a:off x="658368" y="4983480"/>
            <a:ext cx="10058400" cy="256032"/>
          </a:xfrm>
          <a:prstGeom prst="rect">
            <a:avLst/>
          </a:prstGeom>
          <a:noFill/>
          <a:ln/>
        </p:spPr>
        <p:txBody>
          <a:bodyPr wrap="square" lIns="0" tIns="0" rIns="0" bIns="0" rtlCol="0" anchor="ctr"/>
          <a:lstStyle/>
          <a:p>
            <a:pPr indent="0" marL="0">
              <a:buNone/>
            </a:pPr>
            <a:r>
              <a:rPr lang="en-US" sz="1050" dirty="0">
                <a:solidFill>
                  <a:srgbClr val="7E94A8"/>
                </a:solidFill>
                <a:latin typeface="Courier New" pitchFamily="34" charset="0"/>
                <a:ea typeface="Courier New" pitchFamily="34" charset="-122"/>
                <a:cs typeface="Courier New" pitchFamily="34" charset="-120"/>
              </a:rPr>
              <a:t>Live application:  mt-trajnet-thesis-4kznhd8sjhv28lcfds4e2k.streamlit.app</a:t>
            </a:r>
            <a:endParaRPr lang="en-US" sz="1050" dirty="0"/>
          </a:p>
        </p:txBody>
      </p:sp>
      <p:sp>
        <p:nvSpPr>
          <p:cNvPr id="8" name="Text 5"/>
          <p:cNvSpPr/>
          <p:nvPr/>
        </p:nvSpPr>
        <p:spPr>
          <a:xfrm>
            <a:off x="658368" y="5285232"/>
            <a:ext cx="10058400" cy="256032"/>
          </a:xfrm>
          <a:prstGeom prst="rect">
            <a:avLst/>
          </a:prstGeom>
          <a:noFill/>
          <a:ln/>
        </p:spPr>
        <p:txBody>
          <a:bodyPr wrap="square" lIns="0" tIns="0" rIns="0" bIns="0" rtlCol="0" anchor="ctr"/>
          <a:lstStyle/>
          <a:p>
            <a:pPr indent="0" marL="0">
              <a:buNone/>
            </a:pPr>
            <a:r>
              <a:rPr lang="en-US" sz="1050" dirty="0">
                <a:solidFill>
                  <a:srgbClr val="7E94A8"/>
                </a:solidFill>
                <a:latin typeface="Courier New" pitchFamily="34" charset="0"/>
                <a:ea typeface="Courier New" pitchFamily="34" charset="-122"/>
                <a:cs typeface="Courier New" pitchFamily="34" charset="-120"/>
              </a:rPr>
              <a:t>Repository:  github.com/arpitelias/mt-trajnet-thesis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MT-TrajNet — MSc Thesis Presentation</dc:title>
  <dc:subject>PptxGenJS Presentation</dc:subject>
  <dc:creator>Arpit Joshua Elias</dc:creator>
  <cp:lastModifiedBy>Arpit Joshua Elias</cp:lastModifiedBy>
  <cp:revision>1</cp:revision>
  <dcterms:created xsi:type="dcterms:W3CDTF">2026-08-07T12:10:31Z</dcterms:created>
  <dcterms:modified xsi:type="dcterms:W3CDTF">2026-08-07T12:10:31Z</dcterms:modified>
</cp:coreProperties>
</file>